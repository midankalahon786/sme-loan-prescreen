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7" r:id="rId4"/>
    <p:sldId id="259" r:id="rId5"/>
    <p:sldId id="260" r:id="rId6"/>
    <p:sldId id="261" r:id="rId7"/>
    <p:sldId id="289" r:id="rId8"/>
    <p:sldId id="295" r:id="rId9"/>
    <p:sldId id="262" r:id="rId10"/>
    <p:sldId id="263" r:id="rId11"/>
    <p:sldId id="290" r:id="rId12"/>
    <p:sldId id="291" r:id="rId13"/>
    <p:sldId id="293" r:id="rId14"/>
    <p:sldId id="292" r:id="rId15"/>
    <p:sldId id="294" r:id="rId16"/>
    <p:sldId id="296" r:id="rId17"/>
    <p:sldId id="297" r:id="rId18"/>
  </p:sldIdLst>
  <p:sldSz cx="9144000" cy="5143500" type="screen16x9"/>
  <p:notesSz cx="6858000" cy="9144000"/>
  <p:embeddedFontLst>
    <p:embeddedFont>
      <p:font typeface="Afacad Flux" panose="020B0604020202020204" charset="0"/>
      <p:regular r:id="rId21"/>
      <p:bold r:id="rId22"/>
    </p:embeddedFont>
    <p:embeddedFont>
      <p:font typeface="Anaheim" panose="020B0604020202020204" charset="0"/>
      <p:regular r:id="rId23"/>
      <p:bold r:id="rId24"/>
    </p:embeddedFont>
    <p:embeddedFont>
      <p:font typeface="Bricolage Grotesque" panose="020B060402020202020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Funnel Display" pitchFamily="2" charset="0"/>
      <p:regular r:id="rId31"/>
      <p:bold r:id="rId32"/>
    </p:embeddedFont>
    <p:embeddedFont>
      <p:font typeface="Heebo" pitchFamily="2" charset="-79"/>
      <p:regular r:id="rId33"/>
      <p:bold r:id="rId34"/>
    </p:embeddedFont>
    <p:embeddedFont>
      <p:font typeface="Nunito Light" pitchFamily="2" charset="0"/>
      <p:regular r:id="rId35"/>
      <p:italic r:id="rId36"/>
    </p:embeddedFont>
    <p:embeddedFont>
      <p:font typeface="Open Sans Light" panose="020B0306030504020204" pitchFamily="34" charset="0"/>
      <p:regular r:id="rId37"/>
      <p:italic r:id="rId38"/>
    </p:embeddedFont>
    <p:embeddedFont>
      <p:font typeface="Raleway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BC"/>
    <a:srgbClr val="304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859120-89C8-4E35-8124-AD96886E824A}">
  <a:tblStyle styleId="{FF859120-89C8-4E35-8124-AD96886E82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tableStyles" Target="tableStyles.xml"/><Relationship Id="rId20" Type="http://schemas.openxmlformats.org/officeDocument/2006/relationships/handoutMaster" Target="handoutMasters/handoutMaster1.xml"/><Relationship Id="rId41" Type="http://schemas.openxmlformats.org/officeDocument/2006/relationships/font" Target="fonts/font2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763700-AF9B-490F-832B-D73BF04455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91140-4C1E-4489-B2DD-915F0AC2DF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0CD97-368B-403D-9A59-B1C6ED73461B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F2C47-0A53-47A1-A28A-ABA2E48DA0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Midanka Lahon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64002-4F1E-48B3-A5C8-1CA06F68E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F1A64-79AE-4125-B3B3-CF75E4FA5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2023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825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97af2fc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97af2fcc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678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722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881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6670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0476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012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684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0" y="1143439"/>
            <a:ext cx="1323600" cy="11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ebo"/>
              <a:buNone/>
              <a:defRPr sz="1600">
                <a:latin typeface="Heebo"/>
                <a:ea typeface="Heebo"/>
                <a:cs typeface="Heebo"/>
                <a:sym typeface="Heeb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8600" y="3336550"/>
            <a:ext cx="65229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6751500" y="827594"/>
            <a:ext cx="1652100" cy="121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28600" y="4148475"/>
            <a:ext cx="4835100" cy="7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2" hasCustomPrompt="1"/>
          </p:nvPr>
        </p:nvSpPr>
        <p:spPr>
          <a:xfrm>
            <a:off x="1588833" y="228602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3" hasCustomPrompt="1"/>
          </p:nvPr>
        </p:nvSpPr>
        <p:spPr>
          <a:xfrm>
            <a:off x="228592" y="1493565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4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5" hasCustomPrompt="1"/>
          </p:nvPr>
        </p:nvSpPr>
        <p:spPr>
          <a:xfrm>
            <a:off x="3898029" y="228602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6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7" hasCustomPrompt="1"/>
          </p:nvPr>
        </p:nvSpPr>
        <p:spPr>
          <a:xfrm>
            <a:off x="6207225" y="228602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8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9" hasCustomPrompt="1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3"/>
          </p:nvPr>
        </p:nvSpPr>
        <p:spPr>
          <a:xfrm>
            <a:off x="2537802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14" hasCustomPrompt="1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5"/>
          </p:nvPr>
        </p:nvSpPr>
        <p:spPr>
          <a:xfrm>
            <a:off x="4847000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6" hasCustomPrompt="1"/>
          </p:nvPr>
        </p:nvSpPr>
        <p:spPr>
          <a:xfrm>
            <a:off x="3898017" y="2758524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7"/>
          </p:nvPr>
        </p:nvSpPr>
        <p:spPr>
          <a:xfrm>
            <a:off x="3898023" y="3003000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8" hasCustomPrompt="1"/>
          </p:nvPr>
        </p:nvSpPr>
        <p:spPr>
          <a:xfrm>
            <a:off x="6671900" y="2758524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9"/>
          </p:nvPr>
        </p:nvSpPr>
        <p:spPr>
          <a:xfrm>
            <a:off x="6671900" y="3003000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4517000" y="228600"/>
            <a:ext cx="3078300" cy="32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>
            <a:spLocks noGrp="1"/>
          </p:cNvSpPr>
          <p:nvPr>
            <p:ph type="pic" idx="2"/>
          </p:nvPr>
        </p:nvSpPr>
        <p:spPr>
          <a:xfrm>
            <a:off x="228600" y="2871425"/>
            <a:ext cx="8687100" cy="2043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995400" y="228600"/>
            <a:ext cx="4920300" cy="22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ricolage Grotesque"/>
              <a:buNone/>
              <a:defRPr sz="45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936050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4" r:id="rId13"/>
    <p:sldLayoutId id="2147483666" r:id="rId14"/>
    <p:sldLayoutId id="214748366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me-loan-prescreen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CC682D-4B27-4AEF-B934-078EF4CF3FE4}"/>
              </a:ext>
            </a:extLst>
          </p:cNvPr>
          <p:cNvSpPr/>
          <p:nvPr/>
        </p:nvSpPr>
        <p:spPr>
          <a:xfrm>
            <a:off x="6371699" y="-1165983"/>
            <a:ext cx="4029074" cy="351019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A73473-BB1C-4954-A1C4-45D360F7A942}"/>
              </a:ext>
            </a:extLst>
          </p:cNvPr>
          <p:cNvSpPr/>
          <p:nvPr/>
        </p:nvSpPr>
        <p:spPr>
          <a:xfrm>
            <a:off x="-1799484" y="2626298"/>
            <a:ext cx="4029074" cy="35101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Google Shape;121;p26"/>
          <p:cNvSpPr txBox="1">
            <a:spLocks noGrp="1"/>
          </p:cNvSpPr>
          <p:nvPr>
            <p:ph type="ctrTitle"/>
          </p:nvPr>
        </p:nvSpPr>
        <p:spPr>
          <a:xfrm>
            <a:off x="215053" y="2571750"/>
            <a:ext cx="7473949" cy="2487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4800" b="0" dirty="0">
                <a:latin typeface="Funnel Display" pitchFamily="2" charset="0"/>
              </a:rPr>
            </a:br>
            <a:r>
              <a:rPr lang="en" sz="4800" b="0" dirty="0">
                <a:latin typeface="Funnel Display" pitchFamily="2" charset="0"/>
              </a:rPr>
              <a:t>Capstone Project</a:t>
            </a:r>
            <a:r>
              <a:rPr lang="en" sz="2800" dirty="0">
                <a:latin typeface="Funnel Display" pitchFamily="2" charset="0"/>
              </a:rPr>
              <a:t> </a:t>
            </a:r>
            <a:br>
              <a:rPr lang="en" sz="3000" dirty="0">
                <a:latin typeface="Funnel Display" pitchFamily="2" charset="0"/>
              </a:rPr>
            </a:br>
            <a:r>
              <a:rPr lang="en" sz="6000" dirty="0">
                <a:latin typeface="Funnel Display" pitchFamily="2" charset="0"/>
              </a:rPr>
              <a:t>SME Loan Screen:</a:t>
            </a:r>
            <a:br>
              <a:rPr lang="en" sz="6600" dirty="0">
                <a:latin typeface="Funnel Display" pitchFamily="2" charset="0"/>
              </a:rPr>
            </a:br>
            <a:r>
              <a:rPr lang="en" sz="2400" dirty="0">
                <a:latin typeface="Funnel Display" pitchFamily="2" charset="0"/>
              </a:rPr>
              <a:t>Right First Applications</a:t>
            </a:r>
            <a:endParaRPr sz="10000" dirty="0">
              <a:latin typeface="Funnel Display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EF436-9223-1D8F-67F9-74CB14FF8A8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882" y="589113"/>
            <a:ext cx="135064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39C38-BC4C-4308-9E13-DA55D73AD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910" y="238646"/>
            <a:ext cx="1895582" cy="808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86509A-7143-40A2-BE35-11FDAF679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021" y="82448"/>
            <a:ext cx="1103889" cy="8310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B66A58-B9EA-4B6F-917B-CB204AD6F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59" y="82449"/>
            <a:ext cx="1224429" cy="8310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228592" y="3640746"/>
            <a:ext cx="3090341" cy="12741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02060"/>
                </a:solidFill>
                <a:latin typeface="Funnel Display" pitchFamily="2" charset="0"/>
              </a:rPr>
              <a:t>Table of contents</a:t>
            </a:r>
            <a:endParaRPr sz="3600"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1" name="Google Shape;171;p28"/>
          <p:cNvSpPr txBox="1">
            <a:spLocks noGrp="1"/>
          </p:cNvSpPr>
          <p:nvPr>
            <p:ph type="subTitle" idx="1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Problem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Statement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2" name="Google Shape;172;p28"/>
          <p:cNvSpPr txBox="1">
            <a:spLocks noGrp="1"/>
          </p:cNvSpPr>
          <p:nvPr>
            <p:ph type="title" idx="2"/>
          </p:nvPr>
        </p:nvSpPr>
        <p:spPr>
          <a:xfrm>
            <a:off x="1588833" y="228602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060"/>
                </a:solidFill>
                <a:latin typeface="Funnel Display" pitchFamily="2" charset="0"/>
              </a:rPr>
              <a:t>01</a:t>
            </a:r>
            <a:endParaRPr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3" name="Google Shape;173;p28"/>
          <p:cNvSpPr txBox="1">
            <a:spLocks noGrp="1"/>
          </p:cNvSpPr>
          <p:nvPr>
            <p:ph type="title" idx="3"/>
          </p:nvPr>
        </p:nvSpPr>
        <p:spPr>
          <a:xfrm>
            <a:off x="228592" y="1493565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04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4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Mobile Extension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5" name="Google Shape;175;p28"/>
          <p:cNvSpPr txBox="1">
            <a:spLocks noGrp="1"/>
          </p:cNvSpPr>
          <p:nvPr>
            <p:ph type="title" idx="5"/>
          </p:nvPr>
        </p:nvSpPr>
        <p:spPr>
          <a:xfrm>
            <a:off x="3898029" y="228602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060"/>
                </a:solidFill>
                <a:latin typeface="Funnel Display" pitchFamily="2" charset="0"/>
              </a:rPr>
              <a:t>02</a:t>
            </a:r>
            <a:endParaRPr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6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Proposed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Solution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 idx="7"/>
          </p:nvPr>
        </p:nvSpPr>
        <p:spPr>
          <a:xfrm>
            <a:off x="6207225" y="228602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060"/>
                </a:solidFill>
                <a:latin typeface="Funnel Display" pitchFamily="2" charset="0"/>
              </a:rPr>
              <a:t>03</a:t>
            </a:r>
            <a:endParaRPr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8"/>
          </p:nvPr>
        </p:nvSpPr>
        <p:spPr>
          <a:xfrm>
            <a:off x="6207225" y="473074"/>
            <a:ext cx="1609200" cy="874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System Architecture &amp; Tech Stack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 idx="9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060"/>
                </a:solidFill>
                <a:latin typeface="Funnel Display" pitchFamily="2" charset="0"/>
              </a:rPr>
              <a:t>05</a:t>
            </a:r>
            <a:endParaRPr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0" name="Google Shape;180;p28"/>
          <p:cNvSpPr txBox="1">
            <a:spLocks noGrp="1"/>
          </p:cNvSpPr>
          <p:nvPr>
            <p:ph type="subTitle" idx="13"/>
          </p:nvPr>
        </p:nvSpPr>
        <p:spPr>
          <a:xfrm>
            <a:off x="2537802" y="1738025"/>
            <a:ext cx="1709078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Key functionalities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1" name="Google Shape;181;p28"/>
          <p:cNvSpPr txBox="1">
            <a:spLocks noGrp="1"/>
          </p:cNvSpPr>
          <p:nvPr>
            <p:ph type="title" idx="14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060"/>
                </a:solidFill>
                <a:latin typeface="Funnel Display" pitchFamily="2" charset="0"/>
              </a:rPr>
              <a:t>06</a:t>
            </a:r>
            <a:endParaRPr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2" name="Google Shape;182;p28"/>
          <p:cNvSpPr txBox="1">
            <a:spLocks noGrp="1"/>
          </p:cNvSpPr>
          <p:nvPr>
            <p:ph type="subTitle" idx="15"/>
          </p:nvPr>
        </p:nvSpPr>
        <p:spPr>
          <a:xfrm>
            <a:off x="4847000" y="1738025"/>
            <a:ext cx="1609200" cy="439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The Workflow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3" name="Google Shape;183;p28"/>
          <p:cNvSpPr txBox="1">
            <a:spLocks noGrp="1"/>
          </p:cNvSpPr>
          <p:nvPr>
            <p:ph type="title" idx="16"/>
          </p:nvPr>
        </p:nvSpPr>
        <p:spPr>
          <a:xfrm>
            <a:off x="2852994" y="2739938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07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4" name="Google Shape;184;p28"/>
          <p:cNvSpPr txBox="1">
            <a:spLocks noGrp="1"/>
          </p:cNvSpPr>
          <p:nvPr>
            <p:ph type="subTitle" idx="17"/>
          </p:nvPr>
        </p:nvSpPr>
        <p:spPr>
          <a:xfrm>
            <a:off x="2853000" y="2984414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Security Challenges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 idx="18"/>
          </p:nvPr>
        </p:nvSpPr>
        <p:spPr>
          <a:xfrm>
            <a:off x="4672808" y="2721570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08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19"/>
          </p:nvPr>
        </p:nvSpPr>
        <p:spPr>
          <a:xfrm>
            <a:off x="4672808" y="2966046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Live Demo</a:t>
            </a:r>
            <a:endParaRPr dirty="0">
              <a:solidFill>
                <a:srgbClr val="002060"/>
              </a:solidFill>
              <a:latin typeface="Funnel Display" pitchFamily="2" charset="0"/>
            </a:endParaRPr>
          </a:p>
        </p:txBody>
      </p:sp>
      <p:sp>
        <p:nvSpPr>
          <p:cNvPr id="19" name="Google Shape;184;p28">
            <a:extLst>
              <a:ext uri="{FF2B5EF4-FFF2-40B4-BE49-F238E27FC236}">
                <a16:creationId xmlns:a16="http://schemas.microsoft.com/office/drawing/2014/main" id="{34BA19F2-CFD9-4893-AB10-8C639EA1829C}"/>
              </a:ext>
            </a:extLst>
          </p:cNvPr>
          <p:cNvSpPr txBox="1">
            <a:spLocks/>
          </p:cNvSpPr>
          <p:nvPr/>
        </p:nvSpPr>
        <p:spPr>
          <a:xfrm>
            <a:off x="6456200" y="2984414"/>
            <a:ext cx="16092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1" i="0" u="none" strike="noStrike" cap="none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>
                <a:solidFill>
                  <a:srgbClr val="002060"/>
                </a:solidFill>
                <a:latin typeface="Funnel Display" pitchFamily="2" charset="0"/>
              </a:rPr>
              <a:t>Conclusion &amp;</a:t>
            </a:r>
          </a:p>
          <a:p>
            <a:pPr marL="0" indent="0"/>
            <a:r>
              <a:rPr lang="en-IN" dirty="0">
                <a:solidFill>
                  <a:srgbClr val="002060"/>
                </a:solidFill>
                <a:latin typeface="Funnel Display" pitchFamily="2" charset="0"/>
              </a:rPr>
              <a:t>Future Scope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85A89C-0727-44E5-AC2A-46B974BCA8F5}"/>
              </a:ext>
            </a:extLst>
          </p:cNvPr>
          <p:cNvSpPr txBox="1"/>
          <p:nvPr/>
        </p:nvSpPr>
        <p:spPr>
          <a:xfrm>
            <a:off x="6478575" y="2746538"/>
            <a:ext cx="409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Funnel Display" pitchFamily="2" charset="0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F5DB02-7A99-4D05-87B0-5FE52E335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9" name="Google Shape;129;p2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500" cy="5571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buSzPct val="137000"/>
            </a:pPr>
            <a:r>
              <a:rPr lang="en-IN" sz="3200" dirty="0">
                <a:solidFill>
                  <a:srgbClr val="0070C0"/>
                </a:solidFill>
                <a:latin typeface="Funnel Display" pitchFamily="2" charset="0"/>
              </a:rPr>
              <a:t>Problem Statement:</a:t>
            </a:r>
            <a:br>
              <a:rPr lang="en-IN" sz="32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IN" sz="1800" u="sng" dirty="0">
                <a:solidFill>
                  <a:srgbClr val="0070C0"/>
                </a:solidFill>
                <a:latin typeface="Funnel Display" pitchFamily="2" charset="0"/>
              </a:rPr>
              <a:t>The Challenge: Incomplete Documentation &amp; Process Delays</a:t>
            </a:r>
            <a:br>
              <a:rPr lang="en-IN" sz="180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IN" sz="105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IN" sz="1800" dirty="0">
                <a:solidFill>
                  <a:srgbClr val="0070C0"/>
                </a:solidFill>
                <a:latin typeface="Funnel Display" pitchFamily="2" charset="0"/>
              </a:rPr>
              <a:t>1.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The "Partial Submission" Bottleneck: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Customers often submit incomplete document sets, preventing "Right-First-Time" processing.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2. 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Inefficient Screening Logic:</a:t>
            </a: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(a)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Missing KYC: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Triggers automatic rejection (High Bounce Rate).</a:t>
            </a: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(b)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Missing Income Proof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Places application "On Hold," stalling progress.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(c)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Conditional Approvals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Occur when Business Proof is missing, adding 	another manual step.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3.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Operational Waste: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Significant branch time is utilized on basic document screening rather than actual credit underwriting.</a:t>
            </a: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4.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Customer Friction: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Unclear eligibility parameters and checklists lead to avoidable rejections.</a:t>
            </a:r>
            <a:br>
              <a:rPr lang="en-US" dirty="0">
                <a:solidFill>
                  <a:srgbClr val="0070C0"/>
                </a:solidFill>
              </a:rPr>
            </a:br>
            <a:endParaRPr lang="en-IN" sz="6000" dirty="0">
              <a:solidFill>
                <a:srgbClr val="0070C0"/>
              </a:solidFill>
            </a:endParaRPr>
          </a:p>
        </p:txBody>
      </p:sp>
      <p:grpSp>
        <p:nvGrpSpPr>
          <p:cNvPr id="6" name="Google Shape;4360;p55">
            <a:extLst>
              <a:ext uri="{FF2B5EF4-FFF2-40B4-BE49-F238E27FC236}">
                <a16:creationId xmlns:a16="http://schemas.microsoft.com/office/drawing/2014/main" id="{EDF5D3BD-3AE3-4809-8222-9739CDC7371D}"/>
              </a:ext>
            </a:extLst>
          </p:cNvPr>
          <p:cNvGrpSpPr/>
          <p:nvPr/>
        </p:nvGrpSpPr>
        <p:grpSpPr>
          <a:xfrm>
            <a:off x="7942860" y="228600"/>
            <a:ext cx="919020" cy="842532"/>
            <a:chOff x="2903337" y="4279032"/>
            <a:chExt cx="382519" cy="350682"/>
          </a:xfrm>
          <a:solidFill>
            <a:srgbClr val="002060"/>
          </a:solidFill>
        </p:grpSpPr>
        <p:sp>
          <p:nvSpPr>
            <p:cNvPr id="7" name="Google Shape;4361;p55">
              <a:extLst>
                <a:ext uri="{FF2B5EF4-FFF2-40B4-BE49-F238E27FC236}">
                  <a16:creationId xmlns:a16="http://schemas.microsoft.com/office/drawing/2014/main" id="{4B94B673-110B-438E-A87B-227F02979238}"/>
                </a:ext>
              </a:extLst>
            </p:cNvPr>
            <p:cNvSpPr/>
            <p:nvPr/>
          </p:nvSpPr>
          <p:spPr>
            <a:xfrm>
              <a:off x="2966979" y="4320570"/>
              <a:ext cx="202248" cy="184183"/>
            </a:xfrm>
            <a:custGeom>
              <a:avLst/>
              <a:gdLst/>
              <a:ahLst/>
              <a:cxnLst/>
              <a:rect l="l" t="t" r="r" b="b"/>
              <a:pathLst>
                <a:path w="6359" h="5791" extrusionOk="0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362;p55">
              <a:extLst>
                <a:ext uri="{FF2B5EF4-FFF2-40B4-BE49-F238E27FC236}">
                  <a16:creationId xmlns:a16="http://schemas.microsoft.com/office/drawing/2014/main" id="{2E3DF81F-13CE-45F0-8660-AB3A58FDEB7E}"/>
                </a:ext>
              </a:extLst>
            </p:cNvPr>
            <p:cNvSpPr/>
            <p:nvPr/>
          </p:nvSpPr>
          <p:spPr>
            <a:xfrm>
              <a:off x="2903337" y="4279032"/>
              <a:ext cx="382519" cy="350682"/>
            </a:xfrm>
            <a:custGeom>
              <a:avLst/>
              <a:gdLst/>
              <a:ahLst/>
              <a:cxnLst/>
              <a:rect l="l" t="t" r="r" b="b"/>
              <a:pathLst>
                <a:path w="12027" h="11026" extrusionOk="0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363;p55">
              <a:extLst>
                <a:ext uri="{FF2B5EF4-FFF2-40B4-BE49-F238E27FC236}">
                  <a16:creationId xmlns:a16="http://schemas.microsoft.com/office/drawing/2014/main" id="{1FF8DE0F-AA5F-4D5D-9EDB-B79F926667D1}"/>
                </a:ext>
              </a:extLst>
            </p:cNvPr>
            <p:cNvSpPr/>
            <p:nvPr/>
          </p:nvSpPr>
          <p:spPr>
            <a:xfrm>
              <a:off x="2937814" y="4300215"/>
              <a:ext cx="11768" cy="11418"/>
            </a:xfrm>
            <a:custGeom>
              <a:avLst/>
              <a:gdLst/>
              <a:ahLst/>
              <a:cxnLst/>
              <a:rect l="l" t="t" r="r" b="b"/>
              <a:pathLst>
                <a:path w="370" h="359" extrusionOk="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364;p55">
              <a:extLst>
                <a:ext uri="{FF2B5EF4-FFF2-40B4-BE49-F238E27FC236}">
                  <a16:creationId xmlns:a16="http://schemas.microsoft.com/office/drawing/2014/main" id="{B6E881D1-8269-4B54-8250-8D33F242C084}"/>
                </a:ext>
              </a:extLst>
            </p:cNvPr>
            <p:cNvSpPr/>
            <p:nvPr/>
          </p:nvSpPr>
          <p:spPr>
            <a:xfrm>
              <a:off x="2952572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365;p55">
              <a:extLst>
                <a:ext uri="{FF2B5EF4-FFF2-40B4-BE49-F238E27FC236}">
                  <a16:creationId xmlns:a16="http://schemas.microsoft.com/office/drawing/2014/main" id="{76DDA7CD-6FD9-4957-93F7-C64693780C9F}"/>
                </a:ext>
              </a:extLst>
            </p:cNvPr>
            <p:cNvSpPr/>
            <p:nvPr/>
          </p:nvSpPr>
          <p:spPr>
            <a:xfrm>
              <a:off x="2967361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366;p55">
              <a:extLst>
                <a:ext uri="{FF2B5EF4-FFF2-40B4-BE49-F238E27FC236}">
                  <a16:creationId xmlns:a16="http://schemas.microsoft.com/office/drawing/2014/main" id="{A6EE1F7D-5D65-4806-B6F8-48B46AC4BEB3}"/>
                </a:ext>
              </a:extLst>
            </p:cNvPr>
            <p:cNvSpPr/>
            <p:nvPr/>
          </p:nvSpPr>
          <p:spPr>
            <a:xfrm>
              <a:off x="3016563" y="4424063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367;p55">
              <a:extLst>
                <a:ext uri="{FF2B5EF4-FFF2-40B4-BE49-F238E27FC236}">
                  <a16:creationId xmlns:a16="http://schemas.microsoft.com/office/drawing/2014/main" id="{99AAE968-460E-404E-924E-3F96304B69B0}"/>
                </a:ext>
              </a:extLst>
            </p:cNvPr>
            <p:cNvSpPr/>
            <p:nvPr/>
          </p:nvSpPr>
          <p:spPr>
            <a:xfrm>
              <a:off x="3016563" y="4442606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368;p55">
              <a:extLst>
                <a:ext uri="{FF2B5EF4-FFF2-40B4-BE49-F238E27FC236}">
                  <a16:creationId xmlns:a16="http://schemas.microsoft.com/office/drawing/2014/main" id="{EA71AF80-57A3-45E0-895E-F16194A9CAB0}"/>
                </a:ext>
              </a:extLst>
            </p:cNvPr>
            <p:cNvSpPr/>
            <p:nvPr/>
          </p:nvSpPr>
          <p:spPr>
            <a:xfrm>
              <a:off x="3032498" y="4424063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369;p55">
              <a:extLst>
                <a:ext uri="{FF2B5EF4-FFF2-40B4-BE49-F238E27FC236}">
                  <a16:creationId xmlns:a16="http://schemas.microsoft.com/office/drawing/2014/main" id="{C959C8B0-CED3-4AA9-B1E7-B10D249077DB}"/>
                </a:ext>
              </a:extLst>
            </p:cNvPr>
            <p:cNvSpPr/>
            <p:nvPr/>
          </p:nvSpPr>
          <p:spPr>
            <a:xfrm>
              <a:off x="3032498" y="4442606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370;p55">
              <a:extLst>
                <a:ext uri="{FF2B5EF4-FFF2-40B4-BE49-F238E27FC236}">
                  <a16:creationId xmlns:a16="http://schemas.microsoft.com/office/drawing/2014/main" id="{28D49DB2-9FD8-47F9-98A2-CAD46D66A1D9}"/>
                </a:ext>
              </a:extLst>
            </p:cNvPr>
            <p:cNvSpPr/>
            <p:nvPr/>
          </p:nvSpPr>
          <p:spPr>
            <a:xfrm>
              <a:off x="3016213" y="4357527"/>
              <a:ext cx="112494" cy="111636"/>
            </a:xfrm>
            <a:custGeom>
              <a:avLst/>
              <a:gdLst/>
              <a:ahLst/>
              <a:cxnLst/>
              <a:rect l="l" t="t" r="r" b="b"/>
              <a:pathLst>
                <a:path w="3537" h="3510" extrusionOk="0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371;p55">
              <a:extLst>
                <a:ext uri="{FF2B5EF4-FFF2-40B4-BE49-F238E27FC236}">
                  <a16:creationId xmlns:a16="http://schemas.microsoft.com/office/drawing/2014/main" id="{5E2851E3-E518-467A-BB4C-EDADDB52FE8E}"/>
                </a:ext>
              </a:extLst>
            </p:cNvPr>
            <p:cNvSpPr/>
            <p:nvPr/>
          </p:nvSpPr>
          <p:spPr>
            <a:xfrm>
              <a:off x="2937051" y="4499791"/>
              <a:ext cx="14439" cy="11386"/>
            </a:xfrm>
            <a:custGeom>
              <a:avLst/>
              <a:gdLst/>
              <a:ahLst/>
              <a:cxnLst/>
              <a:rect l="l" t="t" r="r" b="b"/>
              <a:pathLst>
                <a:path w="454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372;p55">
              <a:extLst>
                <a:ext uri="{FF2B5EF4-FFF2-40B4-BE49-F238E27FC236}">
                  <a16:creationId xmlns:a16="http://schemas.microsoft.com/office/drawing/2014/main" id="{1FE9DD41-525D-416F-8CC6-69E45F074343}"/>
                </a:ext>
              </a:extLst>
            </p:cNvPr>
            <p:cNvSpPr/>
            <p:nvPr/>
          </p:nvSpPr>
          <p:spPr>
            <a:xfrm>
              <a:off x="2953717" y="4499791"/>
              <a:ext cx="30310" cy="11386"/>
            </a:xfrm>
            <a:custGeom>
              <a:avLst/>
              <a:gdLst/>
              <a:ahLst/>
              <a:cxnLst/>
              <a:rect l="l" t="t" r="r" b="b"/>
              <a:pathLst>
                <a:path w="953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373;p55">
              <a:extLst>
                <a:ext uri="{FF2B5EF4-FFF2-40B4-BE49-F238E27FC236}">
                  <a16:creationId xmlns:a16="http://schemas.microsoft.com/office/drawing/2014/main" id="{DB0BD827-713B-4755-9BEC-3F9EE30E3AB9}"/>
                </a:ext>
              </a:extLst>
            </p:cNvPr>
            <p:cNvSpPr/>
            <p:nvPr/>
          </p:nvSpPr>
          <p:spPr>
            <a:xfrm>
              <a:off x="2937051" y="4514930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374;p55">
              <a:extLst>
                <a:ext uri="{FF2B5EF4-FFF2-40B4-BE49-F238E27FC236}">
                  <a16:creationId xmlns:a16="http://schemas.microsoft.com/office/drawing/2014/main" id="{4165E79B-CAE4-4CBC-8A3F-4D49C87B3CE5}"/>
                </a:ext>
              </a:extLst>
            </p:cNvPr>
            <p:cNvSpPr/>
            <p:nvPr/>
          </p:nvSpPr>
          <p:spPr>
            <a:xfrm>
              <a:off x="2937051" y="4529719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375;p55">
              <a:extLst>
                <a:ext uri="{FF2B5EF4-FFF2-40B4-BE49-F238E27FC236}">
                  <a16:creationId xmlns:a16="http://schemas.microsoft.com/office/drawing/2014/main" id="{910BC007-33C8-4958-A8FC-34894C51D338}"/>
                </a:ext>
              </a:extLst>
            </p:cNvPr>
            <p:cNvSpPr/>
            <p:nvPr/>
          </p:nvSpPr>
          <p:spPr>
            <a:xfrm>
              <a:off x="3213881" y="4343787"/>
              <a:ext cx="11386" cy="126488"/>
            </a:xfrm>
            <a:custGeom>
              <a:avLst/>
              <a:gdLst/>
              <a:ahLst/>
              <a:cxnLst/>
              <a:rect l="l" t="t" r="r" b="b"/>
              <a:pathLst>
                <a:path w="358" h="3977" extrusionOk="0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50E5E2-C6A6-4B5A-BE63-8CF74C05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50773" cy="5143500"/>
          </a:xfrm>
          <a:prstGeom prst="rect">
            <a:avLst/>
          </a:prstGeom>
        </p:spPr>
      </p:pic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4004734" cy="7473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70C0"/>
                </a:solidFill>
                <a:latin typeface="Funnel Display" pitchFamily="2" charset="0"/>
              </a:rPr>
              <a:t>Proposed Solution:</a:t>
            </a:r>
            <a:endParaRPr sz="24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11FC2-289E-48DE-8793-E1647E6C7602}"/>
              </a:ext>
            </a:extLst>
          </p:cNvPr>
          <p:cNvSpPr txBox="1"/>
          <p:nvPr/>
        </p:nvSpPr>
        <p:spPr>
          <a:xfrm>
            <a:off x="133772" y="679653"/>
            <a:ext cx="4438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The "Right-First-Time" Pre-screening Portal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380B5-E48A-4432-8667-675FC45FE5AA}"/>
              </a:ext>
            </a:extLst>
          </p:cNvPr>
          <p:cNvSpPr txBox="1"/>
          <p:nvPr/>
        </p:nvSpPr>
        <p:spPr>
          <a:xfrm>
            <a:off x="203200" y="1117600"/>
            <a:ext cx="8751147" cy="4111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070C0"/>
                </a:solidFill>
                <a:latin typeface="Funnel Display" pitchFamily="2" charset="0"/>
              </a:rPr>
              <a:t>Role-Based Portal:</a:t>
            </a:r>
            <a:r>
              <a:rPr lang="en-US" sz="16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Distinct interfaces for </a:t>
            </a:r>
            <a:r>
              <a:rPr lang="en-US" sz="1600" b="1" dirty="0">
                <a:solidFill>
                  <a:srgbClr val="0070C0"/>
                </a:solidFill>
                <a:latin typeface="Funnel Display" pitchFamily="2" charset="0"/>
              </a:rPr>
              <a:t>Applicants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 (to apply &amp; track) and </a:t>
            </a:r>
            <a:r>
              <a:rPr lang="en-US" sz="1600" b="1" dirty="0">
                <a:solidFill>
                  <a:srgbClr val="0070C0"/>
                </a:solidFill>
                <a:latin typeface="Funnel Display" pitchFamily="2" charset="0"/>
              </a:rPr>
              <a:t>Bank Staff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 (to verify &amp; approve).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70C0"/>
                </a:solidFill>
                <a:latin typeface="Funnel Display" pitchFamily="2" charset="0"/>
              </a:rPr>
              <a:t>Automated Logic Engine:</a:t>
            </a:r>
            <a:endParaRPr lang="en-US" sz="1600" dirty="0">
              <a:solidFill>
                <a:srgbClr val="0070C0"/>
              </a:solidFill>
              <a:latin typeface="Funnel Display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070C0"/>
                </a:solidFill>
                <a:latin typeface="Funnel Display" pitchFamily="2" charset="0"/>
              </a:rPr>
              <a:t>Eligibility Check:</a:t>
            </a:r>
            <a:r>
              <a:rPr lang="en-US" sz="16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Instantly validates Turnover and Business Age before document upload.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070C0"/>
                </a:solidFill>
                <a:latin typeface="Funnel Display" pitchFamily="2" charset="0"/>
              </a:rPr>
              <a:t>Mandatory Gates:</a:t>
            </a:r>
            <a:r>
              <a:rPr lang="en-US" sz="16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Prevents submission until all required proofs (KYC, Income, Business) are present.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070C0"/>
                </a:solidFill>
                <a:latin typeface="Funnel Display" pitchFamily="2" charset="0"/>
              </a:rPr>
              <a:t>Smart Document Management:</a:t>
            </a:r>
            <a:r>
              <a:rPr lang="en-US" sz="16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Integrated preview, verification, and rejection workflow.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rgbClr val="0070C0"/>
                </a:solidFill>
                <a:latin typeface="Funnel Display" pitchFamily="2" charset="0"/>
              </a:rPr>
              <a:t>Real-Time Communication:</a:t>
            </a:r>
            <a:r>
              <a:rPr lang="en-US" sz="16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Funnel Display" pitchFamily="2" charset="0"/>
              </a:rPr>
              <a:t>In-app messaging system to resolve queries instantly.</a:t>
            </a:r>
          </a:p>
          <a:p>
            <a:pPr>
              <a:lnSpc>
                <a:spcPct val="150000"/>
              </a:lnSpc>
            </a:pPr>
            <a:endParaRPr lang="en-IN" sz="1600" dirty="0">
              <a:solidFill>
                <a:srgbClr val="0070C0"/>
              </a:solidFill>
              <a:latin typeface="Funnel Display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9C68C2-694B-474E-B168-A960C7353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7A6693-AEB8-48A6-9440-9337DCC32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08" y="1131135"/>
            <a:ext cx="2958360" cy="327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91;p29">
            <a:extLst>
              <a:ext uri="{FF2B5EF4-FFF2-40B4-BE49-F238E27FC236}">
                <a16:creationId xmlns:a16="http://schemas.microsoft.com/office/drawing/2014/main" id="{430CD6B8-C29C-43C9-A100-0E557533C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System Architecture &amp; Tech Stack: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326AF-E13D-47E1-8E13-B4769ED901B3}"/>
              </a:ext>
            </a:extLst>
          </p:cNvPr>
          <p:cNvSpPr txBox="1"/>
          <p:nvPr/>
        </p:nvSpPr>
        <p:spPr>
          <a:xfrm>
            <a:off x="4206240" y="894080"/>
            <a:ext cx="457877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>
                <a:solidFill>
                  <a:srgbClr val="0070C0"/>
                </a:solidFill>
                <a:latin typeface="Funnel Display" pitchFamily="2" charset="0"/>
              </a:rPr>
              <a:t>Frontend (Client):</a:t>
            </a:r>
            <a:endParaRPr lang="en-IN" sz="1600" u="sng" dirty="0">
              <a:solidFill>
                <a:srgbClr val="0070C0"/>
              </a:solidFill>
              <a:latin typeface="Funnel Display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React 18 (</a:t>
            </a:r>
            <a:r>
              <a:rPr lang="en-IN" sz="1600" b="1" dirty="0" err="1">
                <a:solidFill>
                  <a:srgbClr val="0070C0"/>
                </a:solidFill>
                <a:latin typeface="Funnel Display" pitchFamily="2" charset="0"/>
              </a:rPr>
              <a:t>Vite</a:t>
            </a: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):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High-performance UI.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Tailwind CSS: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For responsive, modern styling.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rgbClr val="0070C0"/>
                </a:solidFill>
                <a:latin typeface="Funnel Display" pitchFamily="2" charset="0"/>
              </a:rPr>
              <a:t>Axios</a:t>
            </a: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For API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>
                <a:solidFill>
                  <a:srgbClr val="0070C0"/>
                </a:solidFill>
                <a:latin typeface="Funnel Display" pitchFamily="2" charset="0"/>
              </a:rPr>
              <a:t>Backend (Server):</a:t>
            </a:r>
            <a:endParaRPr lang="en-IN" sz="1600" u="sng" dirty="0">
              <a:solidFill>
                <a:srgbClr val="0070C0"/>
              </a:solidFill>
              <a:latin typeface="Funnel Display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Spring Boot 3.3 (Java 21):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Robust REST API architecture.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Spring Security + JWT: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Stateless authentication and authorization.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>
                <a:solidFill>
                  <a:srgbClr val="0070C0"/>
                </a:solidFill>
                <a:latin typeface="Funnel Display" pitchFamily="2" charset="0"/>
              </a:rPr>
              <a:t>Database:</a:t>
            </a:r>
            <a:endParaRPr lang="en-IN" sz="1600" u="sng" dirty="0">
              <a:solidFill>
                <a:srgbClr val="0070C0"/>
              </a:solidFill>
              <a:latin typeface="Funnel Display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PostgreSQL / H2: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Relational data storage for users and applications.</a:t>
            </a:r>
          </a:p>
          <a:p>
            <a:endParaRPr lang="en-IN" sz="16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grpSp>
        <p:nvGrpSpPr>
          <p:cNvPr id="10" name="Google Shape;4641;p55">
            <a:extLst>
              <a:ext uri="{FF2B5EF4-FFF2-40B4-BE49-F238E27FC236}">
                <a16:creationId xmlns:a16="http://schemas.microsoft.com/office/drawing/2014/main" id="{BE792677-6728-446A-9DBC-F3658E50C14C}"/>
              </a:ext>
            </a:extLst>
          </p:cNvPr>
          <p:cNvGrpSpPr/>
          <p:nvPr/>
        </p:nvGrpSpPr>
        <p:grpSpPr>
          <a:xfrm>
            <a:off x="7801151" y="164084"/>
            <a:ext cx="923609" cy="704427"/>
            <a:chOff x="4761833" y="3377945"/>
            <a:chExt cx="497299" cy="379285"/>
          </a:xfrm>
          <a:solidFill>
            <a:srgbClr val="002060"/>
          </a:solidFill>
        </p:grpSpPr>
        <p:sp>
          <p:nvSpPr>
            <p:cNvPr id="11" name="Google Shape;4642;p55">
              <a:extLst>
                <a:ext uri="{FF2B5EF4-FFF2-40B4-BE49-F238E27FC236}">
                  <a16:creationId xmlns:a16="http://schemas.microsoft.com/office/drawing/2014/main" id="{B003CAE8-B2F1-48CE-9771-76BF9E1CBE1D}"/>
                </a:ext>
              </a:extLst>
            </p:cNvPr>
            <p:cNvSpPr/>
            <p:nvPr/>
          </p:nvSpPr>
          <p:spPr>
            <a:xfrm>
              <a:off x="4761833" y="3385385"/>
              <a:ext cx="383095" cy="226875"/>
            </a:xfrm>
            <a:custGeom>
              <a:avLst/>
              <a:gdLst/>
              <a:ahLst/>
              <a:cxnLst/>
              <a:rect l="l" t="t" r="r" b="b"/>
              <a:pathLst>
                <a:path w="383095" h="226875" extrusionOk="0">
                  <a:moveTo>
                    <a:pt x="7334" y="226780"/>
                  </a:moveTo>
                  <a:cubicBezTo>
                    <a:pt x="11335" y="226780"/>
                    <a:pt x="14573" y="223542"/>
                    <a:pt x="14573" y="219541"/>
                  </a:cubicBezTo>
                  <a:lnTo>
                    <a:pt x="14573" y="90382"/>
                  </a:lnTo>
                  <a:lnTo>
                    <a:pt x="375857" y="90382"/>
                  </a:lnTo>
                  <a:cubicBezTo>
                    <a:pt x="379857" y="90382"/>
                    <a:pt x="383096" y="87144"/>
                    <a:pt x="383096" y="83143"/>
                  </a:cubicBezTo>
                  <a:cubicBezTo>
                    <a:pt x="383096" y="79143"/>
                    <a:pt x="379857" y="75904"/>
                    <a:pt x="375857" y="75904"/>
                  </a:cubicBezTo>
                  <a:lnTo>
                    <a:pt x="14573" y="75904"/>
                  </a:lnTo>
                  <a:lnTo>
                    <a:pt x="14573" y="30279"/>
                  </a:lnTo>
                  <a:cubicBezTo>
                    <a:pt x="14573" y="23517"/>
                    <a:pt x="17526" y="17230"/>
                    <a:pt x="22670" y="12849"/>
                  </a:cubicBezTo>
                  <a:cubicBezTo>
                    <a:pt x="25718" y="10277"/>
                    <a:pt x="26099" y="5610"/>
                    <a:pt x="23527" y="2562"/>
                  </a:cubicBezTo>
                  <a:cubicBezTo>
                    <a:pt x="20955" y="-486"/>
                    <a:pt x="16288" y="-867"/>
                    <a:pt x="13240" y="1704"/>
                  </a:cubicBezTo>
                  <a:cubicBezTo>
                    <a:pt x="4858" y="8848"/>
                    <a:pt x="0" y="19230"/>
                    <a:pt x="0" y="30279"/>
                  </a:cubicBezTo>
                  <a:lnTo>
                    <a:pt x="0" y="219636"/>
                  </a:lnTo>
                  <a:cubicBezTo>
                    <a:pt x="0" y="223637"/>
                    <a:pt x="3239" y="226875"/>
                    <a:pt x="7239" y="2268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4643;p55">
              <a:extLst>
                <a:ext uri="{FF2B5EF4-FFF2-40B4-BE49-F238E27FC236}">
                  <a16:creationId xmlns:a16="http://schemas.microsoft.com/office/drawing/2014/main" id="{16A3E87D-F2B2-4D55-A0DA-870BFD2763E2}"/>
                </a:ext>
              </a:extLst>
            </p:cNvPr>
            <p:cNvSpPr/>
            <p:nvPr/>
          </p:nvSpPr>
          <p:spPr>
            <a:xfrm>
              <a:off x="4899255" y="3505534"/>
              <a:ext cx="58393" cy="120632"/>
            </a:xfrm>
            <a:custGeom>
              <a:avLst/>
              <a:gdLst/>
              <a:ahLst/>
              <a:cxnLst/>
              <a:rect l="l" t="t" r="r" b="b"/>
              <a:pathLst>
                <a:path w="58393" h="120632" extrusionOk="0">
                  <a:moveTo>
                    <a:pt x="55745" y="1665"/>
                  </a:moveTo>
                  <a:cubicBezTo>
                    <a:pt x="52602" y="-907"/>
                    <a:pt x="48030" y="-430"/>
                    <a:pt x="45458" y="2618"/>
                  </a:cubicBezTo>
                  <a:lnTo>
                    <a:pt x="1643" y="55672"/>
                  </a:lnTo>
                  <a:cubicBezTo>
                    <a:pt x="-548" y="58339"/>
                    <a:pt x="-548" y="62244"/>
                    <a:pt x="1643" y="64911"/>
                  </a:cubicBezTo>
                  <a:lnTo>
                    <a:pt x="45458" y="117965"/>
                  </a:lnTo>
                  <a:cubicBezTo>
                    <a:pt x="46887" y="119680"/>
                    <a:pt x="48982" y="120632"/>
                    <a:pt x="51078" y="120632"/>
                  </a:cubicBezTo>
                  <a:cubicBezTo>
                    <a:pt x="52697" y="120632"/>
                    <a:pt x="54316" y="120061"/>
                    <a:pt x="55745" y="118918"/>
                  </a:cubicBezTo>
                  <a:cubicBezTo>
                    <a:pt x="58888" y="116346"/>
                    <a:pt x="59269" y="111774"/>
                    <a:pt x="56698" y="108631"/>
                  </a:cubicBezTo>
                  <a:lnTo>
                    <a:pt x="16693" y="60244"/>
                  </a:lnTo>
                  <a:lnTo>
                    <a:pt x="56698" y="11857"/>
                  </a:lnTo>
                  <a:cubicBezTo>
                    <a:pt x="59269" y="8714"/>
                    <a:pt x="58793" y="4142"/>
                    <a:pt x="55745" y="1570"/>
                  </a:cubicBezTo>
                  <a:lnTo>
                    <a:pt x="55745" y="15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644;p55">
              <a:extLst>
                <a:ext uri="{FF2B5EF4-FFF2-40B4-BE49-F238E27FC236}">
                  <a16:creationId xmlns:a16="http://schemas.microsoft.com/office/drawing/2014/main" id="{841BC1A7-C6BA-47F9-A689-4AA274E8B721}"/>
                </a:ext>
              </a:extLst>
            </p:cNvPr>
            <p:cNvSpPr/>
            <p:nvPr/>
          </p:nvSpPr>
          <p:spPr>
            <a:xfrm>
              <a:off x="5063413" y="3505503"/>
              <a:ext cx="58393" cy="120663"/>
            </a:xfrm>
            <a:custGeom>
              <a:avLst/>
              <a:gdLst/>
              <a:ahLst/>
              <a:cxnLst/>
              <a:rect l="l" t="t" r="r" b="b"/>
              <a:pathLst>
                <a:path w="58393" h="120663" extrusionOk="0">
                  <a:moveTo>
                    <a:pt x="2648" y="118949"/>
                  </a:moveTo>
                  <a:cubicBezTo>
                    <a:pt x="3982" y="120092"/>
                    <a:pt x="5697" y="120663"/>
                    <a:pt x="7316" y="120663"/>
                  </a:cubicBezTo>
                  <a:cubicBezTo>
                    <a:pt x="9411" y="120663"/>
                    <a:pt x="11507" y="119806"/>
                    <a:pt x="12935" y="117996"/>
                  </a:cubicBezTo>
                  <a:lnTo>
                    <a:pt x="56751" y="64942"/>
                  </a:lnTo>
                  <a:cubicBezTo>
                    <a:pt x="58941" y="62275"/>
                    <a:pt x="58941" y="58370"/>
                    <a:pt x="56751" y="55703"/>
                  </a:cubicBezTo>
                  <a:lnTo>
                    <a:pt x="12935" y="2649"/>
                  </a:lnTo>
                  <a:cubicBezTo>
                    <a:pt x="10364" y="-495"/>
                    <a:pt x="5792" y="-876"/>
                    <a:pt x="2648" y="1696"/>
                  </a:cubicBezTo>
                  <a:cubicBezTo>
                    <a:pt x="-495" y="4268"/>
                    <a:pt x="-876" y="8840"/>
                    <a:pt x="1696" y="11983"/>
                  </a:cubicBezTo>
                  <a:lnTo>
                    <a:pt x="41701" y="60370"/>
                  </a:lnTo>
                  <a:lnTo>
                    <a:pt x="1696" y="108757"/>
                  </a:lnTo>
                  <a:cubicBezTo>
                    <a:pt x="-876" y="111900"/>
                    <a:pt x="-399" y="116472"/>
                    <a:pt x="2648" y="1190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645;p55">
              <a:extLst>
                <a:ext uri="{FF2B5EF4-FFF2-40B4-BE49-F238E27FC236}">
                  <a16:creationId xmlns:a16="http://schemas.microsoft.com/office/drawing/2014/main" id="{DAA7B847-B0EC-4288-8556-93DB15FD6E57}"/>
                </a:ext>
              </a:extLst>
            </p:cNvPr>
            <p:cNvSpPr/>
            <p:nvPr/>
          </p:nvSpPr>
          <p:spPr>
            <a:xfrm>
              <a:off x="4978111" y="3505545"/>
              <a:ext cx="64553" cy="120621"/>
            </a:xfrm>
            <a:custGeom>
              <a:avLst/>
              <a:gdLst/>
              <a:ahLst/>
              <a:cxnLst/>
              <a:rect l="l" t="t" r="r" b="b"/>
              <a:pathLst>
                <a:path w="64553" h="120621" extrusionOk="0">
                  <a:moveTo>
                    <a:pt x="60328" y="702"/>
                  </a:moveTo>
                  <a:cubicBezTo>
                    <a:pt x="56709" y="-1013"/>
                    <a:pt x="52327" y="511"/>
                    <a:pt x="50613" y="4226"/>
                  </a:cubicBezTo>
                  <a:lnTo>
                    <a:pt x="702" y="110239"/>
                  </a:lnTo>
                  <a:cubicBezTo>
                    <a:pt x="-1013" y="113859"/>
                    <a:pt x="511" y="118240"/>
                    <a:pt x="4226" y="119955"/>
                  </a:cubicBezTo>
                  <a:cubicBezTo>
                    <a:pt x="5274" y="120431"/>
                    <a:pt x="6321" y="120621"/>
                    <a:pt x="7369" y="120621"/>
                  </a:cubicBezTo>
                  <a:cubicBezTo>
                    <a:pt x="10131" y="120621"/>
                    <a:pt x="12703" y="119097"/>
                    <a:pt x="13941" y="116430"/>
                  </a:cubicBezTo>
                  <a:lnTo>
                    <a:pt x="63852" y="10417"/>
                  </a:lnTo>
                  <a:cubicBezTo>
                    <a:pt x="65567" y="6798"/>
                    <a:pt x="64043" y="2416"/>
                    <a:pt x="60328" y="702"/>
                  </a:cubicBezTo>
                  <a:lnTo>
                    <a:pt x="60328" y="7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646;p55">
              <a:extLst>
                <a:ext uri="{FF2B5EF4-FFF2-40B4-BE49-F238E27FC236}">
                  <a16:creationId xmlns:a16="http://schemas.microsoft.com/office/drawing/2014/main" id="{1349C31A-D53F-429F-9B83-AA926C059DCE}"/>
                </a:ext>
              </a:extLst>
            </p:cNvPr>
            <p:cNvSpPr/>
            <p:nvPr/>
          </p:nvSpPr>
          <p:spPr>
            <a:xfrm>
              <a:off x="4762023" y="3377945"/>
              <a:ext cx="497109" cy="379285"/>
            </a:xfrm>
            <a:custGeom>
              <a:avLst/>
              <a:gdLst/>
              <a:ahLst/>
              <a:cxnLst/>
              <a:rect l="l" t="t" r="r" b="b"/>
              <a:pathLst>
                <a:path w="497109" h="379285" extrusionOk="0">
                  <a:moveTo>
                    <a:pt x="459677" y="191"/>
                  </a:moveTo>
                  <a:lnTo>
                    <a:pt x="54864" y="191"/>
                  </a:lnTo>
                  <a:cubicBezTo>
                    <a:pt x="50863" y="191"/>
                    <a:pt x="47625" y="3429"/>
                    <a:pt x="47625" y="7429"/>
                  </a:cubicBezTo>
                  <a:cubicBezTo>
                    <a:pt x="47625" y="11430"/>
                    <a:pt x="50863" y="14669"/>
                    <a:pt x="54864" y="14669"/>
                  </a:cubicBezTo>
                  <a:lnTo>
                    <a:pt x="459677" y="14669"/>
                  </a:lnTo>
                  <a:cubicBezTo>
                    <a:pt x="472250" y="14669"/>
                    <a:pt x="482441" y="24860"/>
                    <a:pt x="482441" y="37433"/>
                  </a:cubicBezTo>
                  <a:lnTo>
                    <a:pt x="482441" y="83058"/>
                  </a:lnTo>
                  <a:lnTo>
                    <a:pt x="410051" y="83058"/>
                  </a:lnTo>
                  <a:cubicBezTo>
                    <a:pt x="406051" y="83058"/>
                    <a:pt x="402812" y="86297"/>
                    <a:pt x="402812" y="90297"/>
                  </a:cubicBezTo>
                  <a:cubicBezTo>
                    <a:pt x="402812" y="94298"/>
                    <a:pt x="406051" y="97536"/>
                    <a:pt x="410051" y="97536"/>
                  </a:cubicBezTo>
                  <a:lnTo>
                    <a:pt x="482441" y="97536"/>
                  </a:lnTo>
                  <a:lnTo>
                    <a:pt x="482441" y="341948"/>
                  </a:lnTo>
                  <a:cubicBezTo>
                    <a:pt x="482441" y="354521"/>
                    <a:pt x="472250" y="364712"/>
                    <a:pt x="459677" y="364712"/>
                  </a:cubicBezTo>
                  <a:lnTo>
                    <a:pt x="37243" y="364712"/>
                  </a:lnTo>
                  <a:cubicBezTo>
                    <a:pt x="24670" y="364712"/>
                    <a:pt x="14478" y="354521"/>
                    <a:pt x="14478" y="341948"/>
                  </a:cubicBezTo>
                  <a:lnTo>
                    <a:pt x="14478" y="262890"/>
                  </a:lnTo>
                  <a:cubicBezTo>
                    <a:pt x="14478" y="258890"/>
                    <a:pt x="11240" y="255651"/>
                    <a:pt x="7239" y="255651"/>
                  </a:cubicBezTo>
                  <a:cubicBezTo>
                    <a:pt x="3238" y="255651"/>
                    <a:pt x="0" y="258890"/>
                    <a:pt x="0" y="262890"/>
                  </a:cubicBezTo>
                  <a:lnTo>
                    <a:pt x="0" y="341948"/>
                  </a:lnTo>
                  <a:cubicBezTo>
                    <a:pt x="0" y="362521"/>
                    <a:pt x="16764" y="379286"/>
                    <a:pt x="37338" y="379286"/>
                  </a:cubicBezTo>
                  <a:lnTo>
                    <a:pt x="459772" y="379286"/>
                  </a:lnTo>
                  <a:cubicBezTo>
                    <a:pt x="480346" y="379286"/>
                    <a:pt x="497110" y="362521"/>
                    <a:pt x="497110" y="341948"/>
                  </a:cubicBezTo>
                  <a:lnTo>
                    <a:pt x="497110" y="37338"/>
                  </a:lnTo>
                  <a:cubicBezTo>
                    <a:pt x="497110" y="16764"/>
                    <a:pt x="480346" y="0"/>
                    <a:pt x="459772" y="0"/>
                  </a:cubicBezTo>
                  <a:lnTo>
                    <a:pt x="4597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647;p55">
              <a:extLst>
                <a:ext uri="{FF2B5EF4-FFF2-40B4-BE49-F238E27FC236}">
                  <a16:creationId xmlns:a16="http://schemas.microsoft.com/office/drawing/2014/main" id="{2B48FBE5-9E23-40C5-9144-D1CA96B6FB31}"/>
                </a:ext>
              </a:extLst>
            </p:cNvPr>
            <p:cNvSpPr/>
            <p:nvPr/>
          </p:nvSpPr>
          <p:spPr>
            <a:xfrm>
              <a:off x="4810029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648;p55">
              <a:extLst>
                <a:ext uri="{FF2B5EF4-FFF2-40B4-BE49-F238E27FC236}">
                  <a16:creationId xmlns:a16="http://schemas.microsoft.com/office/drawing/2014/main" id="{1F231B79-3499-4F91-8DA6-6B846A096A04}"/>
                </a:ext>
              </a:extLst>
            </p:cNvPr>
            <p:cNvSpPr/>
            <p:nvPr/>
          </p:nvSpPr>
          <p:spPr>
            <a:xfrm>
              <a:off x="4851558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49;p55">
              <a:extLst>
                <a:ext uri="{FF2B5EF4-FFF2-40B4-BE49-F238E27FC236}">
                  <a16:creationId xmlns:a16="http://schemas.microsoft.com/office/drawing/2014/main" id="{B5E3CAFF-138D-42D4-9411-80FB40A99620}"/>
                </a:ext>
              </a:extLst>
            </p:cNvPr>
            <p:cNvSpPr/>
            <p:nvPr/>
          </p:nvSpPr>
          <p:spPr>
            <a:xfrm>
              <a:off x="4893087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650;p55">
              <a:extLst>
                <a:ext uri="{FF2B5EF4-FFF2-40B4-BE49-F238E27FC236}">
                  <a16:creationId xmlns:a16="http://schemas.microsoft.com/office/drawing/2014/main" id="{46EEF65A-ADF1-4374-9D59-44128BA87185}"/>
                </a:ext>
              </a:extLst>
            </p:cNvPr>
            <p:cNvSpPr/>
            <p:nvPr/>
          </p:nvSpPr>
          <p:spPr>
            <a:xfrm>
              <a:off x="4812601" y="3667886"/>
              <a:ext cx="46862" cy="14477"/>
            </a:xfrm>
            <a:custGeom>
              <a:avLst/>
              <a:gdLst/>
              <a:ahLst/>
              <a:cxnLst/>
              <a:rect l="l" t="t" r="r" b="b"/>
              <a:pathLst>
                <a:path w="46862" h="14477" extrusionOk="0">
                  <a:moveTo>
                    <a:pt x="39624" y="0"/>
                  </a:move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4651;p55">
              <a:extLst>
                <a:ext uri="{FF2B5EF4-FFF2-40B4-BE49-F238E27FC236}">
                  <a16:creationId xmlns:a16="http://schemas.microsoft.com/office/drawing/2014/main" id="{2E440CB7-FB6F-47DA-871F-23752062AEEB}"/>
                </a:ext>
              </a:extLst>
            </p:cNvPr>
            <p:cNvSpPr/>
            <p:nvPr/>
          </p:nvSpPr>
          <p:spPr>
            <a:xfrm>
              <a:off x="4877466" y="3667981"/>
              <a:ext cx="66389" cy="14478"/>
            </a:xfrm>
            <a:custGeom>
              <a:avLst/>
              <a:gdLst/>
              <a:ahLst/>
              <a:cxnLst/>
              <a:rect l="l" t="t" r="r" b="b"/>
              <a:pathLst>
                <a:path w="66389" h="14478" extrusionOk="0">
                  <a:moveTo>
                    <a:pt x="66389" y="7239"/>
                  </a:moveTo>
                  <a:cubicBezTo>
                    <a:pt x="66389" y="3239"/>
                    <a:pt x="63151" y="0"/>
                    <a:pt x="59150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59150" y="14478"/>
                  </a:lnTo>
                  <a:cubicBezTo>
                    <a:pt x="63151" y="14478"/>
                    <a:pt x="66389" y="11240"/>
                    <a:pt x="66389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652;p55">
              <a:extLst>
                <a:ext uri="{FF2B5EF4-FFF2-40B4-BE49-F238E27FC236}">
                  <a16:creationId xmlns:a16="http://schemas.microsoft.com/office/drawing/2014/main" id="{A9D4EA91-4644-49B2-ABDA-20A1423E0141}"/>
                </a:ext>
              </a:extLst>
            </p:cNvPr>
            <p:cNvSpPr/>
            <p:nvPr/>
          </p:nvSpPr>
          <p:spPr>
            <a:xfrm>
              <a:off x="5020627" y="3667981"/>
              <a:ext cx="84962" cy="14478"/>
            </a:xfrm>
            <a:custGeom>
              <a:avLst/>
              <a:gdLst/>
              <a:ahLst/>
              <a:cxnLst/>
              <a:rect l="l" t="t" r="r" b="b"/>
              <a:pathLst>
                <a:path w="84962" h="14478" extrusionOk="0">
                  <a:moveTo>
                    <a:pt x="84963" y="7239"/>
                  </a:moveTo>
                  <a:cubicBezTo>
                    <a:pt x="84963" y="3239"/>
                    <a:pt x="81724" y="0"/>
                    <a:pt x="77724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7724" y="14478"/>
                  </a:lnTo>
                  <a:cubicBezTo>
                    <a:pt x="81724" y="14478"/>
                    <a:pt x="84963" y="11240"/>
                    <a:pt x="84963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4653;p55">
              <a:extLst>
                <a:ext uri="{FF2B5EF4-FFF2-40B4-BE49-F238E27FC236}">
                  <a16:creationId xmlns:a16="http://schemas.microsoft.com/office/drawing/2014/main" id="{8EED4E36-D827-4631-B825-43C07C21833D}"/>
                </a:ext>
              </a:extLst>
            </p:cNvPr>
            <p:cNvSpPr/>
            <p:nvPr/>
          </p:nvSpPr>
          <p:spPr>
            <a:xfrm>
              <a:off x="4964239" y="3667981"/>
              <a:ext cx="35814" cy="14478"/>
            </a:xfrm>
            <a:custGeom>
              <a:avLst/>
              <a:gdLst/>
              <a:ahLst/>
              <a:cxnLst/>
              <a:rect l="l" t="t" r="r" b="b"/>
              <a:pathLst>
                <a:path w="35814" h="14478" extrusionOk="0">
                  <a:moveTo>
                    <a:pt x="35814" y="7239"/>
                  </a:moveTo>
                  <a:cubicBezTo>
                    <a:pt x="35814" y="3239"/>
                    <a:pt x="32576" y="0"/>
                    <a:pt x="28575" y="0"/>
                  </a:cubicBezTo>
                  <a:lnTo>
                    <a:pt x="7239" y="0"/>
                  </a:lnTo>
                  <a:cubicBezTo>
                    <a:pt x="3239" y="0"/>
                    <a:pt x="0" y="3239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8575" y="14478"/>
                  </a:lnTo>
                  <a:cubicBezTo>
                    <a:pt x="32576" y="14478"/>
                    <a:pt x="35814" y="11240"/>
                    <a:pt x="35814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654;p55">
              <a:extLst>
                <a:ext uri="{FF2B5EF4-FFF2-40B4-BE49-F238E27FC236}">
                  <a16:creationId xmlns:a16="http://schemas.microsoft.com/office/drawing/2014/main" id="{05CA7349-5E41-463B-85A0-83B5AD2AFD15}"/>
                </a:ext>
              </a:extLst>
            </p:cNvPr>
            <p:cNvSpPr/>
            <p:nvPr/>
          </p:nvSpPr>
          <p:spPr>
            <a:xfrm>
              <a:off x="4856702" y="3703319"/>
              <a:ext cx="46862" cy="14477"/>
            </a:xfrm>
            <a:custGeom>
              <a:avLst/>
              <a:gdLst/>
              <a:ahLst/>
              <a:cxnLst/>
              <a:rect l="l" t="t" r="r" b="b"/>
              <a:pathLst>
                <a:path w="46862" h="14477" extrusionOk="0">
                  <a:moveTo>
                    <a:pt x="7239" y="14478"/>
                  </a:move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4655;p55">
              <a:extLst>
                <a:ext uri="{FF2B5EF4-FFF2-40B4-BE49-F238E27FC236}">
                  <a16:creationId xmlns:a16="http://schemas.microsoft.com/office/drawing/2014/main" id="{72D481F1-8E93-4C54-A750-BFBE46E3114F}"/>
                </a:ext>
              </a:extLst>
            </p:cNvPr>
            <p:cNvSpPr/>
            <p:nvPr/>
          </p:nvSpPr>
          <p:spPr>
            <a:xfrm>
              <a:off x="4921567" y="3703319"/>
              <a:ext cx="63150" cy="14477"/>
            </a:xfrm>
            <a:custGeom>
              <a:avLst/>
              <a:gdLst/>
              <a:ahLst/>
              <a:cxnLst/>
              <a:rect l="l" t="t" r="r" b="b"/>
              <a:pathLst>
                <a:path w="63150" h="14477" extrusionOk="0">
                  <a:moveTo>
                    <a:pt x="7239" y="14478"/>
                  </a:moveTo>
                  <a:lnTo>
                    <a:pt x="55912" y="14478"/>
                  </a:lnTo>
                  <a:cubicBezTo>
                    <a:pt x="59912" y="14478"/>
                    <a:pt x="63151" y="11240"/>
                    <a:pt x="63151" y="7239"/>
                  </a:cubicBezTo>
                  <a:cubicBezTo>
                    <a:pt x="63151" y="3238"/>
                    <a:pt x="59912" y="0"/>
                    <a:pt x="55912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239" y="14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4656;p55">
              <a:extLst>
                <a:ext uri="{FF2B5EF4-FFF2-40B4-BE49-F238E27FC236}">
                  <a16:creationId xmlns:a16="http://schemas.microsoft.com/office/drawing/2014/main" id="{52E52D3B-836D-42F4-A246-B1E1D389E05C}"/>
                </a:ext>
              </a:extLst>
            </p:cNvPr>
            <p:cNvSpPr/>
            <p:nvPr/>
          </p:nvSpPr>
          <p:spPr>
            <a:xfrm>
              <a:off x="5005196" y="3703319"/>
              <a:ext cx="36671" cy="14477"/>
            </a:xfrm>
            <a:custGeom>
              <a:avLst/>
              <a:gdLst/>
              <a:ahLst/>
              <a:cxnLst/>
              <a:rect l="l" t="t" r="r" b="b"/>
              <a:pathLst>
                <a:path w="36671" h="14477" extrusionOk="0">
                  <a:moveTo>
                    <a:pt x="7239" y="14478"/>
                  </a:moveTo>
                  <a:lnTo>
                    <a:pt x="29432" y="14478"/>
                  </a:lnTo>
                  <a:cubicBezTo>
                    <a:pt x="33433" y="14478"/>
                    <a:pt x="36671" y="11240"/>
                    <a:pt x="36671" y="7239"/>
                  </a:cubicBezTo>
                  <a:cubicBezTo>
                    <a:pt x="36671" y="3238"/>
                    <a:pt x="33433" y="0"/>
                    <a:pt x="2943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4657;p55">
              <a:extLst>
                <a:ext uri="{FF2B5EF4-FFF2-40B4-BE49-F238E27FC236}">
                  <a16:creationId xmlns:a16="http://schemas.microsoft.com/office/drawing/2014/main" id="{57895BA1-51BB-4B85-B654-2D19F9A179CC}"/>
                </a:ext>
              </a:extLst>
            </p:cNvPr>
            <p:cNvSpPr/>
            <p:nvPr/>
          </p:nvSpPr>
          <p:spPr>
            <a:xfrm>
              <a:off x="5167693" y="3703319"/>
              <a:ext cx="36480" cy="14477"/>
            </a:xfrm>
            <a:custGeom>
              <a:avLst/>
              <a:gdLst/>
              <a:ahLst/>
              <a:cxnLst/>
              <a:rect l="l" t="t" r="r" b="b"/>
              <a:pathLst>
                <a:path w="36480" h="14477" extrusionOk="0">
                  <a:moveTo>
                    <a:pt x="29242" y="14478"/>
                  </a:moveTo>
                  <a:cubicBezTo>
                    <a:pt x="33242" y="14478"/>
                    <a:pt x="36481" y="11240"/>
                    <a:pt x="36481" y="7239"/>
                  </a:cubicBezTo>
                  <a:cubicBezTo>
                    <a:pt x="36481" y="3238"/>
                    <a:pt x="33242" y="0"/>
                    <a:pt x="2924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9242" y="14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658;p55">
              <a:extLst>
                <a:ext uri="{FF2B5EF4-FFF2-40B4-BE49-F238E27FC236}">
                  <a16:creationId xmlns:a16="http://schemas.microsoft.com/office/drawing/2014/main" id="{E5FB27B5-B1A5-4884-8618-81E3D9C11EFC}"/>
                </a:ext>
              </a:extLst>
            </p:cNvPr>
            <p:cNvSpPr/>
            <p:nvPr/>
          </p:nvSpPr>
          <p:spPr>
            <a:xfrm>
              <a:off x="5062061" y="3703319"/>
              <a:ext cx="86868" cy="14477"/>
            </a:xfrm>
            <a:custGeom>
              <a:avLst/>
              <a:gdLst/>
              <a:ahLst/>
              <a:cxnLst/>
              <a:rect l="l" t="t" r="r" b="b"/>
              <a:pathLst>
                <a:path w="86868" h="14477" extrusionOk="0">
                  <a:moveTo>
                    <a:pt x="7239" y="14478"/>
                  </a:moveTo>
                  <a:lnTo>
                    <a:pt x="79629" y="14478"/>
                  </a:lnTo>
                  <a:cubicBezTo>
                    <a:pt x="83629" y="14478"/>
                    <a:pt x="86868" y="11240"/>
                    <a:pt x="86868" y="7239"/>
                  </a:cubicBezTo>
                  <a:cubicBezTo>
                    <a:pt x="86868" y="3238"/>
                    <a:pt x="83629" y="0"/>
                    <a:pt x="79629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D8E492-DE45-4507-B89E-D0D8EC867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Google Shape;191;p29">
            <a:extLst>
              <a:ext uri="{FF2B5EF4-FFF2-40B4-BE49-F238E27FC236}">
                <a16:creationId xmlns:a16="http://schemas.microsoft.com/office/drawing/2014/main" id="{8856617C-C1B3-4599-A3A4-AF5C43891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System Architecture &amp; Tech Stack: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B9D447-1A1F-4750-9321-82A01ADDD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242" y="817184"/>
            <a:ext cx="4655515" cy="4034780"/>
          </a:xfrm>
          <a:prstGeom prst="rect">
            <a:avLst/>
          </a:prstGeom>
          <a:noFill/>
        </p:spPr>
      </p:pic>
      <p:grpSp>
        <p:nvGrpSpPr>
          <p:cNvPr id="6" name="Google Shape;4641;p55">
            <a:extLst>
              <a:ext uri="{FF2B5EF4-FFF2-40B4-BE49-F238E27FC236}">
                <a16:creationId xmlns:a16="http://schemas.microsoft.com/office/drawing/2014/main" id="{9A8FBC05-DE41-4CA3-98F7-6303BEF55601}"/>
              </a:ext>
            </a:extLst>
          </p:cNvPr>
          <p:cNvGrpSpPr/>
          <p:nvPr/>
        </p:nvGrpSpPr>
        <p:grpSpPr>
          <a:xfrm>
            <a:off x="7801151" y="164084"/>
            <a:ext cx="923609" cy="704427"/>
            <a:chOff x="4761833" y="3377945"/>
            <a:chExt cx="497299" cy="379285"/>
          </a:xfrm>
          <a:solidFill>
            <a:srgbClr val="002060"/>
          </a:solidFill>
        </p:grpSpPr>
        <p:sp>
          <p:nvSpPr>
            <p:cNvPr id="8" name="Google Shape;4642;p55">
              <a:extLst>
                <a:ext uri="{FF2B5EF4-FFF2-40B4-BE49-F238E27FC236}">
                  <a16:creationId xmlns:a16="http://schemas.microsoft.com/office/drawing/2014/main" id="{FEB0345E-8220-47BD-AFB8-63787EEA4399}"/>
                </a:ext>
              </a:extLst>
            </p:cNvPr>
            <p:cNvSpPr/>
            <p:nvPr/>
          </p:nvSpPr>
          <p:spPr>
            <a:xfrm>
              <a:off x="4761833" y="3385385"/>
              <a:ext cx="383095" cy="226875"/>
            </a:xfrm>
            <a:custGeom>
              <a:avLst/>
              <a:gdLst/>
              <a:ahLst/>
              <a:cxnLst/>
              <a:rect l="l" t="t" r="r" b="b"/>
              <a:pathLst>
                <a:path w="383095" h="226875" extrusionOk="0">
                  <a:moveTo>
                    <a:pt x="7334" y="226780"/>
                  </a:moveTo>
                  <a:cubicBezTo>
                    <a:pt x="11335" y="226780"/>
                    <a:pt x="14573" y="223542"/>
                    <a:pt x="14573" y="219541"/>
                  </a:cubicBezTo>
                  <a:lnTo>
                    <a:pt x="14573" y="90382"/>
                  </a:lnTo>
                  <a:lnTo>
                    <a:pt x="375857" y="90382"/>
                  </a:lnTo>
                  <a:cubicBezTo>
                    <a:pt x="379857" y="90382"/>
                    <a:pt x="383096" y="87144"/>
                    <a:pt x="383096" y="83143"/>
                  </a:cubicBezTo>
                  <a:cubicBezTo>
                    <a:pt x="383096" y="79143"/>
                    <a:pt x="379857" y="75904"/>
                    <a:pt x="375857" y="75904"/>
                  </a:cubicBezTo>
                  <a:lnTo>
                    <a:pt x="14573" y="75904"/>
                  </a:lnTo>
                  <a:lnTo>
                    <a:pt x="14573" y="30279"/>
                  </a:lnTo>
                  <a:cubicBezTo>
                    <a:pt x="14573" y="23517"/>
                    <a:pt x="17526" y="17230"/>
                    <a:pt x="22670" y="12849"/>
                  </a:cubicBezTo>
                  <a:cubicBezTo>
                    <a:pt x="25718" y="10277"/>
                    <a:pt x="26099" y="5610"/>
                    <a:pt x="23527" y="2562"/>
                  </a:cubicBezTo>
                  <a:cubicBezTo>
                    <a:pt x="20955" y="-486"/>
                    <a:pt x="16288" y="-867"/>
                    <a:pt x="13240" y="1704"/>
                  </a:cubicBezTo>
                  <a:cubicBezTo>
                    <a:pt x="4858" y="8848"/>
                    <a:pt x="0" y="19230"/>
                    <a:pt x="0" y="30279"/>
                  </a:cubicBezTo>
                  <a:lnTo>
                    <a:pt x="0" y="219636"/>
                  </a:lnTo>
                  <a:cubicBezTo>
                    <a:pt x="0" y="223637"/>
                    <a:pt x="3239" y="226875"/>
                    <a:pt x="7239" y="2268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4643;p55">
              <a:extLst>
                <a:ext uri="{FF2B5EF4-FFF2-40B4-BE49-F238E27FC236}">
                  <a16:creationId xmlns:a16="http://schemas.microsoft.com/office/drawing/2014/main" id="{905E5C85-F5FD-4E66-BF49-E10A0A3ECACE}"/>
                </a:ext>
              </a:extLst>
            </p:cNvPr>
            <p:cNvSpPr/>
            <p:nvPr/>
          </p:nvSpPr>
          <p:spPr>
            <a:xfrm>
              <a:off x="4899255" y="3505534"/>
              <a:ext cx="58393" cy="120632"/>
            </a:xfrm>
            <a:custGeom>
              <a:avLst/>
              <a:gdLst/>
              <a:ahLst/>
              <a:cxnLst/>
              <a:rect l="l" t="t" r="r" b="b"/>
              <a:pathLst>
                <a:path w="58393" h="120632" extrusionOk="0">
                  <a:moveTo>
                    <a:pt x="55745" y="1665"/>
                  </a:moveTo>
                  <a:cubicBezTo>
                    <a:pt x="52602" y="-907"/>
                    <a:pt x="48030" y="-430"/>
                    <a:pt x="45458" y="2618"/>
                  </a:cubicBezTo>
                  <a:lnTo>
                    <a:pt x="1643" y="55672"/>
                  </a:lnTo>
                  <a:cubicBezTo>
                    <a:pt x="-548" y="58339"/>
                    <a:pt x="-548" y="62244"/>
                    <a:pt x="1643" y="64911"/>
                  </a:cubicBezTo>
                  <a:lnTo>
                    <a:pt x="45458" y="117965"/>
                  </a:lnTo>
                  <a:cubicBezTo>
                    <a:pt x="46887" y="119680"/>
                    <a:pt x="48982" y="120632"/>
                    <a:pt x="51078" y="120632"/>
                  </a:cubicBezTo>
                  <a:cubicBezTo>
                    <a:pt x="52697" y="120632"/>
                    <a:pt x="54316" y="120061"/>
                    <a:pt x="55745" y="118918"/>
                  </a:cubicBezTo>
                  <a:cubicBezTo>
                    <a:pt x="58888" y="116346"/>
                    <a:pt x="59269" y="111774"/>
                    <a:pt x="56698" y="108631"/>
                  </a:cubicBezTo>
                  <a:lnTo>
                    <a:pt x="16693" y="60244"/>
                  </a:lnTo>
                  <a:lnTo>
                    <a:pt x="56698" y="11857"/>
                  </a:lnTo>
                  <a:cubicBezTo>
                    <a:pt x="59269" y="8714"/>
                    <a:pt x="58793" y="4142"/>
                    <a:pt x="55745" y="1570"/>
                  </a:cubicBezTo>
                  <a:lnTo>
                    <a:pt x="55745" y="15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4644;p55">
              <a:extLst>
                <a:ext uri="{FF2B5EF4-FFF2-40B4-BE49-F238E27FC236}">
                  <a16:creationId xmlns:a16="http://schemas.microsoft.com/office/drawing/2014/main" id="{D25E30E4-44FA-4F5D-8E0C-A0DE32482011}"/>
                </a:ext>
              </a:extLst>
            </p:cNvPr>
            <p:cNvSpPr/>
            <p:nvPr/>
          </p:nvSpPr>
          <p:spPr>
            <a:xfrm>
              <a:off x="5063413" y="3505503"/>
              <a:ext cx="58393" cy="120663"/>
            </a:xfrm>
            <a:custGeom>
              <a:avLst/>
              <a:gdLst/>
              <a:ahLst/>
              <a:cxnLst/>
              <a:rect l="l" t="t" r="r" b="b"/>
              <a:pathLst>
                <a:path w="58393" h="120663" extrusionOk="0">
                  <a:moveTo>
                    <a:pt x="2648" y="118949"/>
                  </a:moveTo>
                  <a:cubicBezTo>
                    <a:pt x="3982" y="120092"/>
                    <a:pt x="5697" y="120663"/>
                    <a:pt x="7316" y="120663"/>
                  </a:cubicBezTo>
                  <a:cubicBezTo>
                    <a:pt x="9411" y="120663"/>
                    <a:pt x="11507" y="119806"/>
                    <a:pt x="12935" y="117996"/>
                  </a:cubicBezTo>
                  <a:lnTo>
                    <a:pt x="56751" y="64942"/>
                  </a:lnTo>
                  <a:cubicBezTo>
                    <a:pt x="58941" y="62275"/>
                    <a:pt x="58941" y="58370"/>
                    <a:pt x="56751" y="55703"/>
                  </a:cubicBezTo>
                  <a:lnTo>
                    <a:pt x="12935" y="2649"/>
                  </a:lnTo>
                  <a:cubicBezTo>
                    <a:pt x="10364" y="-495"/>
                    <a:pt x="5792" y="-876"/>
                    <a:pt x="2648" y="1696"/>
                  </a:cubicBezTo>
                  <a:cubicBezTo>
                    <a:pt x="-495" y="4268"/>
                    <a:pt x="-876" y="8840"/>
                    <a:pt x="1696" y="11983"/>
                  </a:cubicBezTo>
                  <a:lnTo>
                    <a:pt x="41701" y="60370"/>
                  </a:lnTo>
                  <a:lnTo>
                    <a:pt x="1696" y="108757"/>
                  </a:lnTo>
                  <a:cubicBezTo>
                    <a:pt x="-876" y="111900"/>
                    <a:pt x="-399" y="116472"/>
                    <a:pt x="2648" y="1190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4645;p55">
              <a:extLst>
                <a:ext uri="{FF2B5EF4-FFF2-40B4-BE49-F238E27FC236}">
                  <a16:creationId xmlns:a16="http://schemas.microsoft.com/office/drawing/2014/main" id="{BAC47033-09AA-4520-990E-D8817D8A8E23}"/>
                </a:ext>
              </a:extLst>
            </p:cNvPr>
            <p:cNvSpPr/>
            <p:nvPr/>
          </p:nvSpPr>
          <p:spPr>
            <a:xfrm>
              <a:off x="4978111" y="3505545"/>
              <a:ext cx="64553" cy="120621"/>
            </a:xfrm>
            <a:custGeom>
              <a:avLst/>
              <a:gdLst/>
              <a:ahLst/>
              <a:cxnLst/>
              <a:rect l="l" t="t" r="r" b="b"/>
              <a:pathLst>
                <a:path w="64553" h="120621" extrusionOk="0">
                  <a:moveTo>
                    <a:pt x="60328" y="702"/>
                  </a:moveTo>
                  <a:cubicBezTo>
                    <a:pt x="56709" y="-1013"/>
                    <a:pt x="52327" y="511"/>
                    <a:pt x="50613" y="4226"/>
                  </a:cubicBezTo>
                  <a:lnTo>
                    <a:pt x="702" y="110239"/>
                  </a:lnTo>
                  <a:cubicBezTo>
                    <a:pt x="-1013" y="113859"/>
                    <a:pt x="511" y="118240"/>
                    <a:pt x="4226" y="119955"/>
                  </a:cubicBezTo>
                  <a:cubicBezTo>
                    <a:pt x="5274" y="120431"/>
                    <a:pt x="6321" y="120621"/>
                    <a:pt x="7369" y="120621"/>
                  </a:cubicBezTo>
                  <a:cubicBezTo>
                    <a:pt x="10131" y="120621"/>
                    <a:pt x="12703" y="119097"/>
                    <a:pt x="13941" y="116430"/>
                  </a:cubicBezTo>
                  <a:lnTo>
                    <a:pt x="63852" y="10417"/>
                  </a:lnTo>
                  <a:cubicBezTo>
                    <a:pt x="65567" y="6798"/>
                    <a:pt x="64043" y="2416"/>
                    <a:pt x="60328" y="702"/>
                  </a:cubicBezTo>
                  <a:lnTo>
                    <a:pt x="60328" y="7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646;p55">
              <a:extLst>
                <a:ext uri="{FF2B5EF4-FFF2-40B4-BE49-F238E27FC236}">
                  <a16:creationId xmlns:a16="http://schemas.microsoft.com/office/drawing/2014/main" id="{0C618B62-2A13-4ACC-A6E0-5CD9AC5EB98C}"/>
                </a:ext>
              </a:extLst>
            </p:cNvPr>
            <p:cNvSpPr/>
            <p:nvPr/>
          </p:nvSpPr>
          <p:spPr>
            <a:xfrm>
              <a:off x="4762023" y="3377945"/>
              <a:ext cx="497109" cy="379285"/>
            </a:xfrm>
            <a:custGeom>
              <a:avLst/>
              <a:gdLst/>
              <a:ahLst/>
              <a:cxnLst/>
              <a:rect l="l" t="t" r="r" b="b"/>
              <a:pathLst>
                <a:path w="497109" h="379285" extrusionOk="0">
                  <a:moveTo>
                    <a:pt x="459677" y="191"/>
                  </a:moveTo>
                  <a:lnTo>
                    <a:pt x="54864" y="191"/>
                  </a:lnTo>
                  <a:cubicBezTo>
                    <a:pt x="50863" y="191"/>
                    <a:pt x="47625" y="3429"/>
                    <a:pt x="47625" y="7429"/>
                  </a:cubicBezTo>
                  <a:cubicBezTo>
                    <a:pt x="47625" y="11430"/>
                    <a:pt x="50863" y="14669"/>
                    <a:pt x="54864" y="14669"/>
                  </a:cubicBezTo>
                  <a:lnTo>
                    <a:pt x="459677" y="14669"/>
                  </a:lnTo>
                  <a:cubicBezTo>
                    <a:pt x="472250" y="14669"/>
                    <a:pt x="482441" y="24860"/>
                    <a:pt x="482441" y="37433"/>
                  </a:cubicBezTo>
                  <a:lnTo>
                    <a:pt x="482441" y="83058"/>
                  </a:lnTo>
                  <a:lnTo>
                    <a:pt x="410051" y="83058"/>
                  </a:lnTo>
                  <a:cubicBezTo>
                    <a:pt x="406051" y="83058"/>
                    <a:pt x="402812" y="86297"/>
                    <a:pt x="402812" y="90297"/>
                  </a:cubicBezTo>
                  <a:cubicBezTo>
                    <a:pt x="402812" y="94298"/>
                    <a:pt x="406051" y="97536"/>
                    <a:pt x="410051" y="97536"/>
                  </a:cubicBezTo>
                  <a:lnTo>
                    <a:pt x="482441" y="97536"/>
                  </a:lnTo>
                  <a:lnTo>
                    <a:pt x="482441" y="341948"/>
                  </a:lnTo>
                  <a:cubicBezTo>
                    <a:pt x="482441" y="354521"/>
                    <a:pt x="472250" y="364712"/>
                    <a:pt x="459677" y="364712"/>
                  </a:cubicBezTo>
                  <a:lnTo>
                    <a:pt x="37243" y="364712"/>
                  </a:lnTo>
                  <a:cubicBezTo>
                    <a:pt x="24670" y="364712"/>
                    <a:pt x="14478" y="354521"/>
                    <a:pt x="14478" y="341948"/>
                  </a:cubicBezTo>
                  <a:lnTo>
                    <a:pt x="14478" y="262890"/>
                  </a:lnTo>
                  <a:cubicBezTo>
                    <a:pt x="14478" y="258890"/>
                    <a:pt x="11240" y="255651"/>
                    <a:pt x="7239" y="255651"/>
                  </a:cubicBezTo>
                  <a:cubicBezTo>
                    <a:pt x="3238" y="255651"/>
                    <a:pt x="0" y="258890"/>
                    <a:pt x="0" y="262890"/>
                  </a:cubicBezTo>
                  <a:lnTo>
                    <a:pt x="0" y="341948"/>
                  </a:lnTo>
                  <a:cubicBezTo>
                    <a:pt x="0" y="362521"/>
                    <a:pt x="16764" y="379286"/>
                    <a:pt x="37338" y="379286"/>
                  </a:cubicBezTo>
                  <a:lnTo>
                    <a:pt x="459772" y="379286"/>
                  </a:lnTo>
                  <a:cubicBezTo>
                    <a:pt x="480346" y="379286"/>
                    <a:pt x="497110" y="362521"/>
                    <a:pt x="497110" y="341948"/>
                  </a:cubicBezTo>
                  <a:lnTo>
                    <a:pt x="497110" y="37338"/>
                  </a:lnTo>
                  <a:cubicBezTo>
                    <a:pt x="497110" y="16764"/>
                    <a:pt x="480346" y="0"/>
                    <a:pt x="459772" y="0"/>
                  </a:cubicBezTo>
                  <a:lnTo>
                    <a:pt x="4597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647;p55">
              <a:extLst>
                <a:ext uri="{FF2B5EF4-FFF2-40B4-BE49-F238E27FC236}">
                  <a16:creationId xmlns:a16="http://schemas.microsoft.com/office/drawing/2014/main" id="{A33FA2B7-C748-4493-A2B7-125A2C15F4D1}"/>
                </a:ext>
              </a:extLst>
            </p:cNvPr>
            <p:cNvSpPr/>
            <p:nvPr/>
          </p:nvSpPr>
          <p:spPr>
            <a:xfrm>
              <a:off x="4810029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648;p55">
              <a:extLst>
                <a:ext uri="{FF2B5EF4-FFF2-40B4-BE49-F238E27FC236}">
                  <a16:creationId xmlns:a16="http://schemas.microsoft.com/office/drawing/2014/main" id="{110B7BD6-5897-4548-BE9A-11F37A18B2B9}"/>
                </a:ext>
              </a:extLst>
            </p:cNvPr>
            <p:cNvSpPr/>
            <p:nvPr/>
          </p:nvSpPr>
          <p:spPr>
            <a:xfrm>
              <a:off x="4851558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649;p55">
              <a:extLst>
                <a:ext uri="{FF2B5EF4-FFF2-40B4-BE49-F238E27FC236}">
                  <a16:creationId xmlns:a16="http://schemas.microsoft.com/office/drawing/2014/main" id="{21F08D4B-833E-469A-B5C7-313A9B040008}"/>
                </a:ext>
              </a:extLst>
            </p:cNvPr>
            <p:cNvSpPr/>
            <p:nvPr/>
          </p:nvSpPr>
          <p:spPr>
            <a:xfrm>
              <a:off x="4893087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650;p55">
              <a:extLst>
                <a:ext uri="{FF2B5EF4-FFF2-40B4-BE49-F238E27FC236}">
                  <a16:creationId xmlns:a16="http://schemas.microsoft.com/office/drawing/2014/main" id="{DBAE94BD-78ED-4F13-B4E0-33590BDFC31E}"/>
                </a:ext>
              </a:extLst>
            </p:cNvPr>
            <p:cNvSpPr/>
            <p:nvPr/>
          </p:nvSpPr>
          <p:spPr>
            <a:xfrm>
              <a:off x="4812601" y="3667886"/>
              <a:ext cx="46862" cy="14477"/>
            </a:xfrm>
            <a:custGeom>
              <a:avLst/>
              <a:gdLst/>
              <a:ahLst/>
              <a:cxnLst/>
              <a:rect l="l" t="t" r="r" b="b"/>
              <a:pathLst>
                <a:path w="46862" h="14477" extrusionOk="0">
                  <a:moveTo>
                    <a:pt x="39624" y="0"/>
                  </a:move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51;p55">
              <a:extLst>
                <a:ext uri="{FF2B5EF4-FFF2-40B4-BE49-F238E27FC236}">
                  <a16:creationId xmlns:a16="http://schemas.microsoft.com/office/drawing/2014/main" id="{C281858A-A2D7-4B12-B6F5-0B7E3C3BA3EB}"/>
                </a:ext>
              </a:extLst>
            </p:cNvPr>
            <p:cNvSpPr/>
            <p:nvPr/>
          </p:nvSpPr>
          <p:spPr>
            <a:xfrm>
              <a:off x="4877466" y="3667981"/>
              <a:ext cx="66389" cy="14478"/>
            </a:xfrm>
            <a:custGeom>
              <a:avLst/>
              <a:gdLst/>
              <a:ahLst/>
              <a:cxnLst/>
              <a:rect l="l" t="t" r="r" b="b"/>
              <a:pathLst>
                <a:path w="66389" h="14478" extrusionOk="0">
                  <a:moveTo>
                    <a:pt x="66389" y="7239"/>
                  </a:moveTo>
                  <a:cubicBezTo>
                    <a:pt x="66389" y="3239"/>
                    <a:pt x="63151" y="0"/>
                    <a:pt x="59150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59150" y="14478"/>
                  </a:lnTo>
                  <a:cubicBezTo>
                    <a:pt x="63151" y="14478"/>
                    <a:pt x="66389" y="11240"/>
                    <a:pt x="66389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652;p55">
              <a:extLst>
                <a:ext uri="{FF2B5EF4-FFF2-40B4-BE49-F238E27FC236}">
                  <a16:creationId xmlns:a16="http://schemas.microsoft.com/office/drawing/2014/main" id="{AAAFD013-6525-4A37-A43E-4BE96CE2D3DD}"/>
                </a:ext>
              </a:extLst>
            </p:cNvPr>
            <p:cNvSpPr/>
            <p:nvPr/>
          </p:nvSpPr>
          <p:spPr>
            <a:xfrm>
              <a:off x="5020627" y="3667981"/>
              <a:ext cx="84962" cy="14478"/>
            </a:xfrm>
            <a:custGeom>
              <a:avLst/>
              <a:gdLst/>
              <a:ahLst/>
              <a:cxnLst/>
              <a:rect l="l" t="t" r="r" b="b"/>
              <a:pathLst>
                <a:path w="84962" h="14478" extrusionOk="0">
                  <a:moveTo>
                    <a:pt x="84963" y="7239"/>
                  </a:moveTo>
                  <a:cubicBezTo>
                    <a:pt x="84963" y="3239"/>
                    <a:pt x="81724" y="0"/>
                    <a:pt x="77724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7724" y="14478"/>
                  </a:lnTo>
                  <a:cubicBezTo>
                    <a:pt x="81724" y="14478"/>
                    <a:pt x="84963" y="11240"/>
                    <a:pt x="84963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4653;p55">
              <a:extLst>
                <a:ext uri="{FF2B5EF4-FFF2-40B4-BE49-F238E27FC236}">
                  <a16:creationId xmlns:a16="http://schemas.microsoft.com/office/drawing/2014/main" id="{6C36DD5D-4C97-4E12-9F54-5E01860DE2AD}"/>
                </a:ext>
              </a:extLst>
            </p:cNvPr>
            <p:cNvSpPr/>
            <p:nvPr/>
          </p:nvSpPr>
          <p:spPr>
            <a:xfrm>
              <a:off x="4964239" y="3667981"/>
              <a:ext cx="35814" cy="14478"/>
            </a:xfrm>
            <a:custGeom>
              <a:avLst/>
              <a:gdLst/>
              <a:ahLst/>
              <a:cxnLst/>
              <a:rect l="l" t="t" r="r" b="b"/>
              <a:pathLst>
                <a:path w="35814" h="14478" extrusionOk="0">
                  <a:moveTo>
                    <a:pt x="35814" y="7239"/>
                  </a:moveTo>
                  <a:cubicBezTo>
                    <a:pt x="35814" y="3239"/>
                    <a:pt x="32576" y="0"/>
                    <a:pt x="28575" y="0"/>
                  </a:cubicBezTo>
                  <a:lnTo>
                    <a:pt x="7239" y="0"/>
                  </a:lnTo>
                  <a:cubicBezTo>
                    <a:pt x="3239" y="0"/>
                    <a:pt x="0" y="3239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8575" y="14478"/>
                  </a:lnTo>
                  <a:cubicBezTo>
                    <a:pt x="32576" y="14478"/>
                    <a:pt x="35814" y="11240"/>
                    <a:pt x="35814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654;p55">
              <a:extLst>
                <a:ext uri="{FF2B5EF4-FFF2-40B4-BE49-F238E27FC236}">
                  <a16:creationId xmlns:a16="http://schemas.microsoft.com/office/drawing/2014/main" id="{68FF87E4-6119-4970-A389-A8C22CBC3ACA}"/>
                </a:ext>
              </a:extLst>
            </p:cNvPr>
            <p:cNvSpPr/>
            <p:nvPr/>
          </p:nvSpPr>
          <p:spPr>
            <a:xfrm>
              <a:off x="4856702" y="3703319"/>
              <a:ext cx="46862" cy="14477"/>
            </a:xfrm>
            <a:custGeom>
              <a:avLst/>
              <a:gdLst/>
              <a:ahLst/>
              <a:cxnLst/>
              <a:rect l="l" t="t" r="r" b="b"/>
              <a:pathLst>
                <a:path w="46862" h="14477" extrusionOk="0">
                  <a:moveTo>
                    <a:pt x="7239" y="14478"/>
                  </a:move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4655;p55">
              <a:extLst>
                <a:ext uri="{FF2B5EF4-FFF2-40B4-BE49-F238E27FC236}">
                  <a16:creationId xmlns:a16="http://schemas.microsoft.com/office/drawing/2014/main" id="{063C89A1-23E0-44C9-BF61-C16B717E1F48}"/>
                </a:ext>
              </a:extLst>
            </p:cNvPr>
            <p:cNvSpPr/>
            <p:nvPr/>
          </p:nvSpPr>
          <p:spPr>
            <a:xfrm>
              <a:off x="4921567" y="3703319"/>
              <a:ext cx="63150" cy="14477"/>
            </a:xfrm>
            <a:custGeom>
              <a:avLst/>
              <a:gdLst/>
              <a:ahLst/>
              <a:cxnLst/>
              <a:rect l="l" t="t" r="r" b="b"/>
              <a:pathLst>
                <a:path w="63150" h="14477" extrusionOk="0">
                  <a:moveTo>
                    <a:pt x="7239" y="14478"/>
                  </a:moveTo>
                  <a:lnTo>
                    <a:pt x="55912" y="14478"/>
                  </a:lnTo>
                  <a:cubicBezTo>
                    <a:pt x="59912" y="14478"/>
                    <a:pt x="63151" y="11240"/>
                    <a:pt x="63151" y="7239"/>
                  </a:cubicBezTo>
                  <a:cubicBezTo>
                    <a:pt x="63151" y="3238"/>
                    <a:pt x="59912" y="0"/>
                    <a:pt x="55912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239" y="14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656;p55">
              <a:extLst>
                <a:ext uri="{FF2B5EF4-FFF2-40B4-BE49-F238E27FC236}">
                  <a16:creationId xmlns:a16="http://schemas.microsoft.com/office/drawing/2014/main" id="{06B98518-A06C-48C5-9F02-76A0DCD2A5CB}"/>
                </a:ext>
              </a:extLst>
            </p:cNvPr>
            <p:cNvSpPr/>
            <p:nvPr/>
          </p:nvSpPr>
          <p:spPr>
            <a:xfrm>
              <a:off x="5005196" y="3703319"/>
              <a:ext cx="36671" cy="14477"/>
            </a:xfrm>
            <a:custGeom>
              <a:avLst/>
              <a:gdLst/>
              <a:ahLst/>
              <a:cxnLst/>
              <a:rect l="l" t="t" r="r" b="b"/>
              <a:pathLst>
                <a:path w="36671" h="14477" extrusionOk="0">
                  <a:moveTo>
                    <a:pt x="7239" y="14478"/>
                  </a:moveTo>
                  <a:lnTo>
                    <a:pt x="29432" y="14478"/>
                  </a:lnTo>
                  <a:cubicBezTo>
                    <a:pt x="33433" y="14478"/>
                    <a:pt x="36671" y="11240"/>
                    <a:pt x="36671" y="7239"/>
                  </a:cubicBezTo>
                  <a:cubicBezTo>
                    <a:pt x="36671" y="3238"/>
                    <a:pt x="33433" y="0"/>
                    <a:pt x="2943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4657;p55">
              <a:extLst>
                <a:ext uri="{FF2B5EF4-FFF2-40B4-BE49-F238E27FC236}">
                  <a16:creationId xmlns:a16="http://schemas.microsoft.com/office/drawing/2014/main" id="{9D05BD8B-96A1-4E24-BBD7-CDF3C4D6F458}"/>
                </a:ext>
              </a:extLst>
            </p:cNvPr>
            <p:cNvSpPr/>
            <p:nvPr/>
          </p:nvSpPr>
          <p:spPr>
            <a:xfrm>
              <a:off x="5167693" y="3703319"/>
              <a:ext cx="36480" cy="14477"/>
            </a:xfrm>
            <a:custGeom>
              <a:avLst/>
              <a:gdLst/>
              <a:ahLst/>
              <a:cxnLst/>
              <a:rect l="l" t="t" r="r" b="b"/>
              <a:pathLst>
                <a:path w="36480" h="14477" extrusionOk="0">
                  <a:moveTo>
                    <a:pt x="29242" y="14478"/>
                  </a:moveTo>
                  <a:cubicBezTo>
                    <a:pt x="33242" y="14478"/>
                    <a:pt x="36481" y="11240"/>
                    <a:pt x="36481" y="7239"/>
                  </a:cubicBezTo>
                  <a:cubicBezTo>
                    <a:pt x="36481" y="3238"/>
                    <a:pt x="33242" y="0"/>
                    <a:pt x="2924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9242" y="14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4658;p55">
              <a:extLst>
                <a:ext uri="{FF2B5EF4-FFF2-40B4-BE49-F238E27FC236}">
                  <a16:creationId xmlns:a16="http://schemas.microsoft.com/office/drawing/2014/main" id="{CF973F85-02C8-432C-82D7-AF962A2642A0}"/>
                </a:ext>
              </a:extLst>
            </p:cNvPr>
            <p:cNvSpPr/>
            <p:nvPr/>
          </p:nvSpPr>
          <p:spPr>
            <a:xfrm>
              <a:off x="5062061" y="3703319"/>
              <a:ext cx="86868" cy="14477"/>
            </a:xfrm>
            <a:custGeom>
              <a:avLst/>
              <a:gdLst/>
              <a:ahLst/>
              <a:cxnLst/>
              <a:rect l="l" t="t" r="r" b="b"/>
              <a:pathLst>
                <a:path w="86868" h="14477" extrusionOk="0">
                  <a:moveTo>
                    <a:pt x="7239" y="14478"/>
                  </a:moveTo>
                  <a:lnTo>
                    <a:pt x="79629" y="14478"/>
                  </a:lnTo>
                  <a:cubicBezTo>
                    <a:pt x="83629" y="14478"/>
                    <a:pt x="86868" y="11240"/>
                    <a:pt x="86868" y="7239"/>
                  </a:cubicBezTo>
                  <a:cubicBezTo>
                    <a:pt x="86868" y="3238"/>
                    <a:pt x="83629" y="0"/>
                    <a:pt x="79629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026A99-0A22-4A2C-82F6-0E2DA69F7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Google Shape;191;p29">
            <a:extLst>
              <a:ext uri="{FF2B5EF4-FFF2-40B4-BE49-F238E27FC236}">
                <a16:creationId xmlns:a16="http://schemas.microsoft.com/office/drawing/2014/main" id="{8856617C-C1B3-4599-A3A4-AF5C43891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System Architecture &amp; Tech Stack: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892C43-F719-4EF5-92D3-B9CD2C5DE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827" y="704427"/>
            <a:ext cx="5774133" cy="443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oogle Shape;4641;p55">
            <a:extLst>
              <a:ext uri="{FF2B5EF4-FFF2-40B4-BE49-F238E27FC236}">
                <a16:creationId xmlns:a16="http://schemas.microsoft.com/office/drawing/2014/main" id="{BB16AEBE-C470-4084-859C-745A5DA06300}"/>
              </a:ext>
            </a:extLst>
          </p:cNvPr>
          <p:cNvGrpSpPr/>
          <p:nvPr/>
        </p:nvGrpSpPr>
        <p:grpSpPr>
          <a:xfrm>
            <a:off x="7801151" y="164084"/>
            <a:ext cx="923609" cy="704427"/>
            <a:chOff x="4761833" y="3377945"/>
            <a:chExt cx="497299" cy="379285"/>
          </a:xfrm>
          <a:solidFill>
            <a:srgbClr val="002060"/>
          </a:solidFill>
        </p:grpSpPr>
        <p:sp>
          <p:nvSpPr>
            <p:cNvPr id="8" name="Google Shape;4642;p55">
              <a:extLst>
                <a:ext uri="{FF2B5EF4-FFF2-40B4-BE49-F238E27FC236}">
                  <a16:creationId xmlns:a16="http://schemas.microsoft.com/office/drawing/2014/main" id="{68E5B889-C5AB-4E7D-8D23-ED5B18A2A591}"/>
                </a:ext>
              </a:extLst>
            </p:cNvPr>
            <p:cNvSpPr/>
            <p:nvPr/>
          </p:nvSpPr>
          <p:spPr>
            <a:xfrm>
              <a:off x="4761833" y="3385385"/>
              <a:ext cx="383095" cy="226875"/>
            </a:xfrm>
            <a:custGeom>
              <a:avLst/>
              <a:gdLst/>
              <a:ahLst/>
              <a:cxnLst/>
              <a:rect l="l" t="t" r="r" b="b"/>
              <a:pathLst>
                <a:path w="383095" h="226875" extrusionOk="0">
                  <a:moveTo>
                    <a:pt x="7334" y="226780"/>
                  </a:moveTo>
                  <a:cubicBezTo>
                    <a:pt x="11335" y="226780"/>
                    <a:pt x="14573" y="223542"/>
                    <a:pt x="14573" y="219541"/>
                  </a:cubicBezTo>
                  <a:lnTo>
                    <a:pt x="14573" y="90382"/>
                  </a:lnTo>
                  <a:lnTo>
                    <a:pt x="375857" y="90382"/>
                  </a:lnTo>
                  <a:cubicBezTo>
                    <a:pt x="379857" y="90382"/>
                    <a:pt x="383096" y="87144"/>
                    <a:pt x="383096" y="83143"/>
                  </a:cubicBezTo>
                  <a:cubicBezTo>
                    <a:pt x="383096" y="79143"/>
                    <a:pt x="379857" y="75904"/>
                    <a:pt x="375857" y="75904"/>
                  </a:cubicBezTo>
                  <a:lnTo>
                    <a:pt x="14573" y="75904"/>
                  </a:lnTo>
                  <a:lnTo>
                    <a:pt x="14573" y="30279"/>
                  </a:lnTo>
                  <a:cubicBezTo>
                    <a:pt x="14573" y="23517"/>
                    <a:pt x="17526" y="17230"/>
                    <a:pt x="22670" y="12849"/>
                  </a:cubicBezTo>
                  <a:cubicBezTo>
                    <a:pt x="25718" y="10277"/>
                    <a:pt x="26099" y="5610"/>
                    <a:pt x="23527" y="2562"/>
                  </a:cubicBezTo>
                  <a:cubicBezTo>
                    <a:pt x="20955" y="-486"/>
                    <a:pt x="16288" y="-867"/>
                    <a:pt x="13240" y="1704"/>
                  </a:cubicBezTo>
                  <a:cubicBezTo>
                    <a:pt x="4858" y="8848"/>
                    <a:pt x="0" y="19230"/>
                    <a:pt x="0" y="30279"/>
                  </a:cubicBezTo>
                  <a:lnTo>
                    <a:pt x="0" y="219636"/>
                  </a:lnTo>
                  <a:cubicBezTo>
                    <a:pt x="0" y="223637"/>
                    <a:pt x="3239" y="226875"/>
                    <a:pt x="7239" y="2268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4643;p55">
              <a:extLst>
                <a:ext uri="{FF2B5EF4-FFF2-40B4-BE49-F238E27FC236}">
                  <a16:creationId xmlns:a16="http://schemas.microsoft.com/office/drawing/2014/main" id="{AB9D01F7-4DF3-4B76-8E94-24A565467B56}"/>
                </a:ext>
              </a:extLst>
            </p:cNvPr>
            <p:cNvSpPr/>
            <p:nvPr/>
          </p:nvSpPr>
          <p:spPr>
            <a:xfrm>
              <a:off x="4899255" y="3505534"/>
              <a:ext cx="58393" cy="120632"/>
            </a:xfrm>
            <a:custGeom>
              <a:avLst/>
              <a:gdLst/>
              <a:ahLst/>
              <a:cxnLst/>
              <a:rect l="l" t="t" r="r" b="b"/>
              <a:pathLst>
                <a:path w="58393" h="120632" extrusionOk="0">
                  <a:moveTo>
                    <a:pt x="55745" y="1665"/>
                  </a:moveTo>
                  <a:cubicBezTo>
                    <a:pt x="52602" y="-907"/>
                    <a:pt x="48030" y="-430"/>
                    <a:pt x="45458" y="2618"/>
                  </a:cubicBezTo>
                  <a:lnTo>
                    <a:pt x="1643" y="55672"/>
                  </a:lnTo>
                  <a:cubicBezTo>
                    <a:pt x="-548" y="58339"/>
                    <a:pt x="-548" y="62244"/>
                    <a:pt x="1643" y="64911"/>
                  </a:cubicBezTo>
                  <a:lnTo>
                    <a:pt x="45458" y="117965"/>
                  </a:lnTo>
                  <a:cubicBezTo>
                    <a:pt x="46887" y="119680"/>
                    <a:pt x="48982" y="120632"/>
                    <a:pt x="51078" y="120632"/>
                  </a:cubicBezTo>
                  <a:cubicBezTo>
                    <a:pt x="52697" y="120632"/>
                    <a:pt x="54316" y="120061"/>
                    <a:pt x="55745" y="118918"/>
                  </a:cubicBezTo>
                  <a:cubicBezTo>
                    <a:pt x="58888" y="116346"/>
                    <a:pt x="59269" y="111774"/>
                    <a:pt x="56698" y="108631"/>
                  </a:cubicBezTo>
                  <a:lnTo>
                    <a:pt x="16693" y="60244"/>
                  </a:lnTo>
                  <a:lnTo>
                    <a:pt x="56698" y="11857"/>
                  </a:lnTo>
                  <a:cubicBezTo>
                    <a:pt x="59269" y="8714"/>
                    <a:pt x="58793" y="4142"/>
                    <a:pt x="55745" y="1570"/>
                  </a:cubicBezTo>
                  <a:lnTo>
                    <a:pt x="55745" y="15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4644;p55">
              <a:extLst>
                <a:ext uri="{FF2B5EF4-FFF2-40B4-BE49-F238E27FC236}">
                  <a16:creationId xmlns:a16="http://schemas.microsoft.com/office/drawing/2014/main" id="{CED56C84-25AF-4681-BE52-E3971536D97A}"/>
                </a:ext>
              </a:extLst>
            </p:cNvPr>
            <p:cNvSpPr/>
            <p:nvPr/>
          </p:nvSpPr>
          <p:spPr>
            <a:xfrm>
              <a:off x="5063413" y="3505503"/>
              <a:ext cx="58393" cy="120663"/>
            </a:xfrm>
            <a:custGeom>
              <a:avLst/>
              <a:gdLst/>
              <a:ahLst/>
              <a:cxnLst/>
              <a:rect l="l" t="t" r="r" b="b"/>
              <a:pathLst>
                <a:path w="58393" h="120663" extrusionOk="0">
                  <a:moveTo>
                    <a:pt x="2648" y="118949"/>
                  </a:moveTo>
                  <a:cubicBezTo>
                    <a:pt x="3982" y="120092"/>
                    <a:pt x="5697" y="120663"/>
                    <a:pt x="7316" y="120663"/>
                  </a:cubicBezTo>
                  <a:cubicBezTo>
                    <a:pt x="9411" y="120663"/>
                    <a:pt x="11507" y="119806"/>
                    <a:pt x="12935" y="117996"/>
                  </a:cubicBezTo>
                  <a:lnTo>
                    <a:pt x="56751" y="64942"/>
                  </a:lnTo>
                  <a:cubicBezTo>
                    <a:pt x="58941" y="62275"/>
                    <a:pt x="58941" y="58370"/>
                    <a:pt x="56751" y="55703"/>
                  </a:cubicBezTo>
                  <a:lnTo>
                    <a:pt x="12935" y="2649"/>
                  </a:lnTo>
                  <a:cubicBezTo>
                    <a:pt x="10364" y="-495"/>
                    <a:pt x="5792" y="-876"/>
                    <a:pt x="2648" y="1696"/>
                  </a:cubicBezTo>
                  <a:cubicBezTo>
                    <a:pt x="-495" y="4268"/>
                    <a:pt x="-876" y="8840"/>
                    <a:pt x="1696" y="11983"/>
                  </a:cubicBezTo>
                  <a:lnTo>
                    <a:pt x="41701" y="60370"/>
                  </a:lnTo>
                  <a:lnTo>
                    <a:pt x="1696" y="108757"/>
                  </a:lnTo>
                  <a:cubicBezTo>
                    <a:pt x="-876" y="111900"/>
                    <a:pt x="-399" y="116472"/>
                    <a:pt x="2648" y="1190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4645;p55">
              <a:extLst>
                <a:ext uri="{FF2B5EF4-FFF2-40B4-BE49-F238E27FC236}">
                  <a16:creationId xmlns:a16="http://schemas.microsoft.com/office/drawing/2014/main" id="{F50164F0-B144-448B-A91C-FAB33C1CD7FB}"/>
                </a:ext>
              </a:extLst>
            </p:cNvPr>
            <p:cNvSpPr/>
            <p:nvPr/>
          </p:nvSpPr>
          <p:spPr>
            <a:xfrm>
              <a:off x="4978111" y="3505545"/>
              <a:ext cx="64553" cy="120621"/>
            </a:xfrm>
            <a:custGeom>
              <a:avLst/>
              <a:gdLst/>
              <a:ahLst/>
              <a:cxnLst/>
              <a:rect l="l" t="t" r="r" b="b"/>
              <a:pathLst>
                <a:path w="64553" h="120621" extrusionOk="0">
                  <a:moveTo>
                    <a:pt x="60328" y="702"/>
                  </a:moveTo>
                  <a:cubicBezTo>
                    <a:pt x="56709" y="-1013"/>
                    <a:pt x="52327" y="511"/>
                    <a:pt x="50613" y="4226"/>
                  </a:cubicBezTo>
                  <a:lnTo>
                    <a:pt x="702" y="110239"/>
                  </a:lnTo>
                  <a:cubicBezTo>
                    <a:pt x="-1013" y="113859"/>
                    <a:pt x="511" y="118240"/>
                    <a:pt x="4226" y="119955"/>
                  </a:cubicBezTo>
                  <a:cubicBezTo>
                    <a:pt x="5274" y="120431"/>
                    <a:pt x="6321" y="120621"/>
                    <a:pt x="7369" y="120621"/>
                  </a:cubicBezTo>
                  <a:cubicBezTo>
                    <a:pt x="10131" y="120621"/>
                    <a:pt x="12703" y="119097"/>
                    <a:pt x="13941" y="116430"/>
                  </a:cubicBezTo>
                  <a:lnTo>
                    <a:pt x="63852" y="10417"/>
                  </a:lnTo>
                  <a:cubicBezTo>
                    <a:pt x="65567" y="6798"/>
                    <a:pt x="64043" y="2416"/>
                    <a:pt x="60328" y="702"/>
                  </a:cubicBezTo>
                  <a:lnTo>
                    <a:pt x="60328" y="7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646;p55">
              <a:extLst>
                <a:ext uri="{FF2B5EF4-FFF2-40B4-BE49-F238E27FC236}">
                  <a16:creationId xmlns:a16="http://schemas.microsoft.com/office/drawing/2014/main" id="{C9C258DC-3D69-46C1-A722-7FC3A006BFFA}"/>
                </a:ext>
              </a:extLst>
            </p:cNvPr>
            <p:cNvSpPr/>
            <p:nvPr/>
          </p:nvSpPr>
          <p:spPr>
            <a:xfrm>
              <a:off x="4762023" y="3377945"/>
              <a:ext cx="497109" cy="379285"/>
            </a:xfrm>
            <a:custGeom>
              <a:avLst/>
              <a:gdLst/>
              <a:ahLst/>
              <a:cxnLst/>
              <a:rect l="l" t="t" r="r" b="b"/>
              <a:pathLst>
                <a:path w="497109" h="379285" extrusionOk="0">
                  <a:moveTo>
                    <a:pt x="459677" y="191"/>
                  </a:moveTo>
                  <a:lnTo>
                    <a:pt x="54864" y="191"/>
                  </a:lnTo>
                  <a:cubicBezTo>
                    <a:pt x="50863" y="191"/>
                    <a:pt x="47625" y="3429"/>
                    <a:pt x="47625" y="7429"/>
                  </a:cubicBezTo>
                  <a:cubicBezTo>
                    <a:pt x="47625" y="11430"/>
                    <a:pt x="50863" y="14669"/>
                    <a:pt x="54864" y="14669"/>
                  </a:cubicBezTo>
                  <a:lnTo>
                    <a:pt x="459677" y="14669"/>
                  </a:lnTo>
                  <a:cubicBezTo>
                    <a:pt x="472250" y="14669"/>
                    <a:pt x="482441" y="24860"/>
                    <a:pt x="482441" y="37433"/>
                  </a:cubicBezTo>
                  <a:lnTo>
                    <a:pt x="482441" y="83058"/>
                  </a:lnTo>
                  <a:lnTo>
                    <a:pt x="410051" y="83058"/>
                  </a:lnTo>
                  <a:cubicBezTo>
                    <a:pt x="406051" y="83058"/>
                    <a:pt x="402812" y="86297"/>
                    <a:pt x="402812" y="90297"/>
                  </a:cubicBezTo>
                  <a:cubicBezTo>
                    <a:pt x="402812" y="94298"/>
                    <a:pt x="406051" y="97536"/>
                    <a:pt x="410051" y="97536"/>
                  </a:cubicBezTo>
                  <a:lnTo>
                    <a:pt x="482441" y="97536"/>
                  </a:lnTo>
                  <a:lnTo>
                    <a:pt x="482441" y="341948"/>
                  </a:lnTo>
                  <a:cubicBezTo>
                    <a:pt x="482441" y="354521"/>
                    <a:pt x="472250" y="364712"/>
                    <a:pt x="459677" y="364712"/>
                  </a:cubicBezTo>
                  <a:lnTo>
                    <a:pt x="37243" y="364712"/>
                  </a:lnTo>
                  <a:cubicBezTo>
                    <a:pt x="24670" y="364712"/>
                    <a:pt x="14478" y="354521"/>
                    <a:pt x="14478" y="341948"/>
                  </a:cubicBezTo>
                  <a:lnTo>
                    <a:pt x="14478" y="262890"/>
                  </a:lnTo>
                  <a:cubicBezTo>
                    <a:pt x="14478" y="258890"/>
                    <a:pt x="11240" y="255651"/>
                    <a:pt x="7239" y="255651"/>
                  </a:cubicBezTo>
                  <a:cubicBezTo>
                    <a:pt x="3238" y="255651"/>
                    <a:pt x="0" y="258890"/>
                    <a:pt x="0" y="262890"/>
                  </a:cubicBezTo>
                  <a:lnTo>
                    <a:pt x="0" y="341948"/>
                  </a:lnTo>
                  <a:cubicBezTo>
                    <a:pt x="0" y="362521"/>
                    <a:pt x="16764" y="379286"/>
                    <a:pt x="37338" y="379286"/>
                  </a:cubicBezTo>
                  <a:lnTo>
                    <a:pt x="459772" y="379286"/>
                  </a:lnTo>
                  <a:cubicBezTo>
                    <a:pt x="480346" y="379286"/>
                    <a:pt x="497110" y="362521"/>
                    <a:pt x="497110" y="341948"/>
                  </a:cubicBezTo>
                  <a:lnTo>
                    <a:pt x="497110" y="37338"/>
                  </a:lnTo>
                  <a:cubicBezTo>
                    <a:pt x="497110" y="16764"/>
                    <a:pt x="480346" y="0"/>
                    <a:pt x="459772" y="0"/>
                  </a:cubicBezTo>
                  <a:lnTo>
                    <a:pt x="4597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647;p55">
              <a:extLst>
                <a:ext uri="{FF2B5EF4-FFF2-40B4-BE49-F238E27FC236}">
                  <a16:creationId xmlns:a16="http://schemas.microsoft.com/office/drawing/2014/main" id="{B545EF4D-159A-40E4-995F-C66831691E9A}"/>
                </a:ext>
              </a:extLst>
            </p:cNvPr>
            <p:cNvSpPr/>
            <p:nvPr/>
          </p:nvSpPr>
          <p:spPr>
            <a:xfrm>
              <a:off x="4810029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648;p55">
              <a:extLst>
                <a:ext uri="{FF2B5EF4-FFF2-40B4-BE49-F238E27FC236}">
                  <a16:creationId xmlns:a16="http://schemas.microsoft.com/office/drawing/2014/main" id="{E64AB342-951E-4C84-86C9-99F411D408EA}"/>
                </a:ext>
              </a:extLst>
            </p:cNvPr>
            <p:cNvSpPr/>
            <p:nvPr/>
          </p:nvSpPr>
          <p:spPr>
            <a:xfrm>
              <a:off x="4851558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649;p55">
              <a:extLst>
                <a:ext uri="{FF2B5EF4-FFF2-40B4-BE49-F238E27FC236}">
                  <a16:creationId xmlns:a16="http://schemas.microsoft.com/office/drawing/2014/main" id="{7382C72B-3583-48BD-B037-8BB609D931C2}"/>
                </a:ext>
              </a:extLst>
            </p:cNvPr>
            <p:cNvSpPr/>
            <p:nvPr/>
          </p:nvSpPr>
          <p:spPr>
            <a:xfrm>
              <a:off x="4893087" y="3413378"/>
              <a:ext cx="27050" cy="27051"/>
            </a:xfrm>
            <a:custGeom>
              <a:avLst/>
              <a:gdLst/>
              <a:ahLst/>
              <a:cxnLst/>
              <a:rect l="l" t="t" r="r" b="b"/>
              <a:pathLst>
                <a:path w="27050" h="27051" extrusionOk="0">
                  <a:moveTo>
                    <a:pt x="27051" y="13525"/>
                  </a:moveTo>
                  <a:cubicBezTo>
                    <a:pt x="27051" y="20995"/>
                    <a:pt x="20995" y="27051"/>
                    <a:pt x="13526" y="27051"/>
                  </a:cubicBezTo>
                  <a:cubicBezTo>
                    <a:pt x="6056" y="27051"/>
                    <a:pt x="0" y="20995"/>
                    <a:pt x="0" y="13525"/>
                  </a:cubicBezTo>
                  <a:cubicBezTo>
                    <a:pt x="0" y="6056"/>
                    <a:pt x="6056" y="0"/>
                    <a:pt x="13526" y="0"/>
                  </a:cubicBezTo>
                  <a:cubicBezTo>
                    <a:pt x="20995" y="0"/>
                    <a:pt x="27051" y="6056"/>
                    <a:pt x="27051" y="135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650;p55">
              <a:extLst>
                <a:ext uri="{FF2B5EF4-FFF2-40B4-BE49-F238E27FC236}">
                  <a16:creationId xmlns:a16="http://schemas.microsoft.com/office/drawing/2014/main" id="{23B0542C-2305-4725-9734-9190850BEC87}"/>
                </a:ext>
              </a:extLst>
            </p:cNvPr>
            <p:cNvSpPr/>
            <p:nvPr/>
          </p:nvSpPr>
          <p:spPr>
            <a:xfrm>
              <a:off x="4812601" y="3667886"/>
              <a:ext cx="46862" cy="14477"/>
            </a:xfrm>
            <a:custGeom>
              <a:avLst/>
              <a:gdLst/>
              <a:ahLst/>
              <a:cxnLst/>
              <a:rect l="l" t="t" r="r" b="b"/>
              <a:pathLst>
                <a:path w="46862" h="14477" extrusionOk="0">
                  <a:moveTo>
                    <a:pt x="39624" y="0"/>
                  </a:move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51;p55">
              <a:extLst>
                <a:ext uri="{FF2B5EF4-FFF2-40B4-BE49-F238E27FC236}">
                  <a16:creationId xmlns:a16="http://schemas.microsoft.com/office/drawing/2014/main" id="{0828DB51-48CB-42FA-8DD2-E8DA14FAA4E9}"/>
                </a:ext>
              </a:extLst>
            </p:cNvPr>
            <p:cNvSpPr/>
            <p:nvPr/>
          </p:nvSpPr>
          <p:spPr>
            <a:xfrm>
              <a:off x="4877466" y="3667981"/>
              <a:ext cx="66389" cy="14478"/>
            </a:xfrm>
            <a:custGeom>
              <a:avLst/>
              <a:gdLst/>
              <a:ahLst/>
              <a:cxnLst/>
              <a:rect l="l" t="t" r="r" b="b"/>
              <a:pathLst>
                <a:path w="66389" h="14478" extrusionOk="0">
                  <a:moveTo>
                    <a:pt x="66389" y="7239"/>
                  </a:moveTo>
                  <a:cubicBezTo>
                    <a:pt x="66389" y="3239"/>
                    <a:pt x="63151" y="0"/>
                    <a:pt x="59150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59150" y="14478"/>
                  </a:lnTo>
                  <a:cubicBezTo>
                    <a:pt x="63151" y="14478"/>
                    <a:pt x="66389" y="11240"/>
                    <a:pt x="66389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652;p55">
              <a:extLst>
                <a:ext uri="{FF2B5EF4-FFF2-40B4-BE49-F238E27FC236}">
                  <a16:creationId xmlns:a16="http://schemas.microsoft.com/office/drawing/2014/main" id="{1F24C602-7B1D-4DE9-BE40-FD39DFE275E6}"/>
                </a:ext>
              </a:extLst>
            </p:cNvPr>
            <p:cNvSpPr/>
            <p:nvPr/>
          </p:nvSpPr>
          <p:spPr>
            <a:xfrm>
              <a:off x="5020627" y="3667981"/>
              <a:ext cx="84962" cy="14478"/>
            </a:xfrm>
            <a:custGeom>
              <a:avLst/>
              <a:gdLst/>
              <a:ahLst/>
              <a:cxnLst/>
              <a:rect l="l" t="t" r="r" b="b"/>
              <a:pathLst>
                <a:path w="84962" h="14478" extrusionOk="0">
                  <a:moveTo>
                    <a:pt x="84963" y="7239"/>
                  </a:moveTo>
                  <a:cubicBezTo>
                    <a:pt x="84963" y="3239"/>
                    <a:pt x="81724" y="0"/>
                    <a:pt x="77724" y="0"/>
                  </a:cubicBezTo>
                  <a:lnTo>
                    <a:pt x="7239" y="0"/>
                  </a:lnTo>
                  <a:cubicBezTo>
                    <a:pt x="3238" y="0"/>
                    <a:pt x="0" y="3239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7724" y="14478"/>
                  </a:lnTo>
                  <a:cubicBezTo>
                    <a:pt x="81724" y="14478"/>
                    <a:pt x="84963" y="11240"/>
                    <a:pt x="84963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4653;p55">
              <a:extLst>
                <a:ext uri="{FF2B5EF4-FFF2-40B4-BE49-F238E27FC236}">
                  <a16:creationId xmlns:a16="http://schemas.microsoft.com/office/drawing/2014/main" id="{8F1ED691-C210-45BE-8A1D-C3DFBF7B1840}"/>
                </a:ext>
              </a:extLst>
            </p:cNvPr>
            <p:cNvSpPr/>
            <p:nvPr/>
          </p:nvSpPr>
          <p:spPr>
            <a:xfrm>
              <a:off x="4964239" y="3667981"/>
              <a:ext cx="35814" cy="14478"/>
            </a:xfrm>
            <a:custGeom>
              <a:avLst/>
              <a:gdLst/>
              <a:ahLst/>
              <a:cxnLst/>
              <a:rect l="l" t="t" r="r" b="b"/>
              <a:pathLst>
                <a:path w="35814" h="14478" extrusionOk="0">
                  <a:moveTo>
                    <a:pt x="35814" y="7239"/>
                  </a:moveTo>
                  <a:cubicBezTo>
                    <a:pt x="35814" y="3239"/>
                    <a:pt x="32576" y="0"/>
                    <a:pt x="28575" y="0"/>
                  </a:cubicBezTo>
                  <a:lnTo>
                    <a:pt x="7239" y="0"/>
                  </a:lnTo>
                  <a:cubicBezTo>
                    <a:pt x="3239" y="0"/>
                    <a:pt x="0" y="3239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8575" y="14478"/>
                  </a:lnTo>
                  <a:cubicBezTo>
                    <a:pt x="32576" y="14478"/>
                    <a:pt x="35814" y="11240"/>
                    <a:pt x="35814" y="72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654;p55">
              <a:extLst>
                <a:ext uri="{FF2B5EF4-FFF2-40B4-BE49-F238E27FC236}">
                  <a16:creationId xmlns:a16="http://schemas.microsoft.com/office/drawing/2014/main" id="{F9C14E45-F661-4CF3-BB0E-570796184B54}"/>
                </a:ext>
              </a:extLst>
            </p:cNvPr>
            <p:cNvSpPr/>
            <p:nvPr/>
          </p:nvSpPr>
          <p:spPr>
            <a:xfrm>
              <a:off x="4856702" y="3703319"/>
              <a:ext cx="46862" cy="14477"/>
            </a:xfrm>
            <a:custGeom>
              <a:avLst/>
              <a:gdLst/>
              <a:ahLst/>
              <a:cxnLst/>
              <a:rect l="l" t="t" r="r" b="b"/>
              <a:pathLst>
                <a:path w="46862" h="14477" extrusionOk="0">
                  <a:moveTo>
                    <a:pt x="7239" y="14478"/>
                  </a:moveTo>
                  <a:lnTo>
                    <a:pt x="39624" y="14478"/>
                  </a:lnTo>
                  <a:cubicBezTo>
                    <a:pt x="43625" y="14478"/>
                    <a:pt x="46863" y="11240"/>
                    <a:pt x="46863" y="7239"/>
                  </a:cubicBezTo>
                  <a:cubicBezTo>
                    <a:pt x="46863" y="3238"/>
                    <a:pt x="43625" y="0"/>
                    <a:pt x="39624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4655;p55">
              <a:extLst>
                <a:ext uri="{FF2B5EF4-FFF2-40B4-BE49-F238E27FC236}">
                  <a16:creationId xmlns:a16="http://schemas.microsoft.com/office/drawing/2014/main" id="{7B3C2DE7-43B6-4E97-9245-8334A1089BCA}"/>
                </a:ext>
              </a:extLst>
            </p:cNvPr>
            <p:cNvSpPr/>
            <p:nvPr/>
          </p:nvSpPr>
          <p:spPr>
            <a:xfrm>
              <a:off x="4921567" y="3703319"/>
              <a:ext cx="63150" cy="14477"/>
            </a:xfrm>
            <a:custGeom>
              <a:avLst/>
              <a:gdLst/>
              <a:ahLst/>
              <a:cxnLst/>
              <a:rect l="l" t="t" r="r" b="b"/>
              <a:pathLst>
                <a:path w="63150" h="14477" extrusionOk="0">
                  <a:moveTo>
                    <a:pt x="7239" y="14478"/>
                  </a:moveTo>
                  <a:lnTo>
                    <a:pt x="55912" y="14478"/>
                  </a:lnTo>
                  <a:cubicBezTo>
                    <a:pt x="59912" y="14478"/>
                    <a:pt x="63151" y="11240"/>
                    <a:pt x="63151" y="7239"/>
                  </a:cubicBezTo>
                  <a:cubicBezTo>
                    <a:pt x="63151" y="3238"/>
                    <a:pt x="59912" y="0"/>
                    <a:pt x="55912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lnTo>
                    <a:pt x="7239" y="14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656;p55">
              <a:extLst>
                <a:ext uri="{FF2B5EF4-FFF2-40B4-BE49-F238E27FC236}">
                  <a16:creationId xmlns:a16="http://schemas.microsoft.com/office/drawing/2014/main" id="{195440AD-AA0C-4DE4-9A4D-3CA327356ABE}"/>
                </a:ext>
              </a:extLst>
            </p:cNvPr>
            <p:cNvSpPr/>
            <p:nvPr/>
          </p:nvSpPr>
          <p:spPr>
            <a:xfrm>
              <a:off x="5005196" y="3703319"/>
              <a:ext cx="36671" cy="14477"/>
            </a:xfrm>
            <a:custGeom>
              <a:avLst/>
              <a:gdLst/>
              <a:ahLst/>
              <a:cxnLst/>
              <a:rect l="l" t="t" r="r" b="b"/>
              <a:pathLst>
                <a:path w="36671" h="14477" extrusionOk="0">
                  <a:moveTo>
                    <a:pt x="7239" y="14478"/>
                  </a:moveTo>
                  <a:lnTo>
                    <a:pt x="29432" y="14478"/>
                  </a:lnTo>
                  <a:cubicBezTo>
                    <a:pt x="33433" y="14478"/>
                    <a:pt x="36671" y="11240"/>
                    <a:pt x="36671" y="7239"/>
                  </a:cubicBezTo>
                  <a:cubicBezTo>
                    <a:pt x="36671" y="3238"/>
                    <a:pt x="33433" y="0"/>
                    <a:pt x="2943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4657;p55">
              <a:extLst>
                <a:ext uri="{FF2B5EF4-FFF2-40B4-BE49-F238E27FC236}">
                  <a16:creationId xmlns:a16="http://schemas.microsoft.com/office/drawing/2014/main" id="{74A5275D-7E19-4DEB-8A8F-20333027D276}"/>
                </a:ext>
              </a:extLst>
            </p:cNvPr>
            <p:cNvSpPr/>
            <p:nvPr/>
          </p:nvSpPr>
          <p:spPr>
            <a:xfrm>
              <a:off x="5167693" y="3703319"/>
              <a:ext cx="36480" cy="14477"/>
            </a:xfrm>
            <a:custGeom>
              <a:avLst/>
              <a:gdLst/>
              <a:ahLst/>
              <a:cxnLst/>
              <a:rect l="l" t="t" r="r" b="b"/>
              <a:pathLst>
                <a:path w="36480" h="14477" extrusionOk="0">
                  <a:moveTo>
                    <a:pt x="29242" y="14478"/>
                  </a:moveTo>
                  <a:cubicBezTo>
                    <a:pt x="33242" y="14478"/>
                    <a:pt x="36481" y="11240"/>
                    <a:pt x="36481" y="7239"/>
                  </a:cubicBezTo>
                  <a:cubicBezTo>
                    <a:pt x="36481" y="3238"/>
                    <a:pt x="33242" y="0"/>
                    <a:pt x="29242" y="0"/>
                  </a:cubicBezTo>
                  <a:lnTo>
                    <a:pt x="7239" y="0"/>
                  </a:lnTo>
                  <a:cubicBezTo>
                    <a:pt x="3239" y="0"/>
                    <a:pt x="0" y="3238"/>
                    <a:pt x="0" y="7239"/>
                  </a:cubicBezTo>
                  <a:cubicBezTo>
                    <a:pt x="0" y="11240"/>
                    <a:pt x="3239" y="14478"/>
                    <a:pt x="7239" y="14478"/>
                  </a:cubicBezTo>
                  <a:lnTo>
                    <a:pt x="29242" y="14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4658;p55">
              <a:extLst>
                <a:ext uri="{FF2B5EF4-FFF2-40B4-BE49-F238E27FC236}">
                  <a16:creationId xmlns:a16="http://schemas.microsoft.com/office/drawing/2014/main" id="{4FFC1FC0-27DE-457E-BBB1-03FB0BB60D60}"/>
                </a:ext>
              </a:extLst>
            </p:cNvPr>
            <p:cNvSpPr/>
            <p:nvPr/>
          </p:nvSpPr>
          <p:spPr>
            <a:xfrm>
              <a:off x="5062061" y="3703319"/>
              <a:ext cx="86868" cy="14477"/>
            </a:xfrm>
            <a:custGeom>
              <a:avLst/>
              <a:gdLst/>
              <a:ahLst/>
              <a:cxnLst/>
              <a:rect l="l" t="t" r="r" b="b"/>
              <a:pathLst>
                <a:path w="86868" h="14477" extrusionOk="0">
                  <a:moveTo>
                    <a:pt x="7239" y="14478"/>
                  </a:moveTo>
                  <a:lnTo>
                    <a:pt x="79629" y="14478"/>
                  </a:lnTo>
                  <a:cubicBezTo>
                    <a:pt x="83629" y="14478"/>
                    <a:pt x="86868" y="11240"/>
                    <a:pt x="86868" y="7239"/>
                  </a:cubicBezTo>
                  <a:cubicBezTo>
                    <a:pt x="86868" y="3238"/>
                    <a:pt x="83629" y="0"/>
                    <a:pt x="79629" y="0"/>
                  </a:cubicBezTo>
                  <a:lnTo>
                    <a:pt x="7239" y="0"/>
                  </a:lnTo>
                  <a:cubicBezTo>
                    <a:pt x="3238" y="0"/>
                    <a:pt x="0" y="3238"/>
                    <a:pt x="0" y="7239"/>
                  </a:cubicBezTo>
                  <a:cubicBezTo>
                    <a:pt x="0" y="11240"/>
                    <a:pt x="3238" y="14478"/>
                    <a:pt x="7239" y="144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991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37C7E4-7AEA-4B6A-B9FD-684E8B2F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Google Shape;129;p27">
            <a:extLst>
              <a:ext uri="{FF2B5EF4-FFF2-40B4-BE49-F238E27FC236}">
                <a16:creationId xmlns:a16="http://schemas.microsoft.com/office/drawing/2014/main" id="{766C9A82-635E-45BA-B80A-54E7DA60CB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500" cy="5571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buSzPct val="137000"/>
            </a:pPr>
            <a:r>
              <a:rPr lang="en-IN" sz="3200" dirty="0">
                <a:solidFill>
                  <a:srgbClr val="0070C0"/>
                </a:solidFill>
                <a:latin typeface="Funnel Display" pitchFamily="2" charset="0"/>
              </a:rPr>
              <a:t>Mobile Extension(Android App):</a:t>
            </a:r>
            <a:br>
              <a:rPr lang="en-IN" sz="32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IN" sz="1800" b="0" dirty="0">
                <a:solidFill>
                  <a:srgbClr val="0070C0"/>
                </a:solidFill>
                <a:latin typeface="Funnel Display" pitchFamily="2" charset="0"/>
              </a:rPr>
              <a:t>Mobile Accessibility for both SME Owners and Bank Staff</a:t>
            </a:r>
            <a:br>
              <a:rPr lang="en-IN" sz="180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IN" sz="105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IN" sz="1800" dirty="0">
                <a:solidFill>
                  <a:srgbClr val="0070C0"/>
                </a:solidFill>
                <a:latin typeface="Funnel Display" pitchFamily="2" charset="0"/>
              </a:rPr>
              <a:t>1.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Why Android?: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SME owners are often on the field and need to apply or track status on the go.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2. 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WebView Implementation:</a:t>
            </a: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(a) 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Zero-Latency Updates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 Changes deployed to the web server are instantly reflected in the app without requiring Play Store updates.</a:t>
            </a: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(b) 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Native Feel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Runs </a:t>
            </a:r>
            <a:r>
              <a:rPr lang="en-US" sz="1800" b="0" dirty="0" err="1">
                <a:solidFill>
                  <a:srgbClr val="0070C0"/>
                </a:solidFill>
                <a:latin typeface="Funnel Display" pitchFamily="2" charset="0"/>
              </a:rPr>
              <a:t>fullscreen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 without browser address bars for an immersive experience.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3. 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Key Mobile Features:</a:t>
            </a:r>
            <a:br>
              <a:rPr lang="en-US" sz="180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(a) 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Camera Integration</a:t>
            </a:r>
            <a:r>
              <a:rPr lang="en-US" sz="1800" b="1" u="sng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 Users can snap photos of documents and upload them directly via the web interface.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	(b) </a:t>
            </a:r>
            <a:r>
              <a:rPr lang="en-US" sz="1800" u="sng" dirty="0">
                <a:solidFill>
                  <a:srgbClr val="0070C0"/>
                </a:solidFill>
                <a:latin typeface="Funnel Display" pitchFamily="2" charset="0"/>
              </a:rPr>
              <a:t>Persistent Access</a:t>
            </a:r>
            <a:r>
              <a:rPr lang="en-US" sz="1800" b="1" dirty="0">
                <a:solidFill>
                  <a:srgbClr val="0070C0"/>
                </a:solidFill>
                <a:latin typeface="Funnel Display" pitchFamily="2" charset="0"/>
              </a:rPr>
              <a:t>:</a:t>
            </a:r>
            <a:r>
              <a:rPr lang="en-US" sz="1800" dirty="0">
                <a:solidFill>
                  <a:srgbClr val="0070C0"/>
                </a:solidFill>
                <a:latin typeface="Funnel Display" pitchFamily="2" charset="0"/>
              </a:rPr>
              <a:t> </a:t>
            </a:r>
            <a: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  <a:t>One-tap access from the home screen.</a:t>
            </a:r>
            <a:br>
              <a:rPr lang="en-US" sz="1800" b="0" dirty="0">
                <a:solidFill>
                  <a:srgbClr val="0070C0"/>
                </a:solidFill>
                <a:latin typeface="Funnel Display" pitchFamily="2" charset="0"/>
              </a:rPr>
            </a:br>
            <a:br>
              <a:rPr lang="en-US" dirty="0">
                <a:solidFill>
                  <a:srgbClr val="0070C0"/>
                </a:solidFill>
              </a:rPr>
            </a:br>
            <a:endParaRPr lang="en-IN" sz="6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1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FD2572-C504-4C70-8F1F-986876F55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Google Shape;191;p29">
            <a:extLst>
              <a:ext uri="{FF2B5EF4-FFF2-40B4-BE49-F238E27FC236}">
                <a16:creationId xmlns:a16="http://schemas.microsoft.com/office/drawing/2014/main" id="{78E44F98-0BA4-4233-9D44-A6D6F801B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Key Functionalities: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2FBCB6-9459-49E7-BFC8-644B5403DDB9}"/>
              </a:ext>
            </a:extLst>
          </p:cNvPr>
          <p:cNvSpPr txBox="1"/>
          <p:nvPr/>
        </p:nvSpPr>
        <p:spPr>
          <a:xfrm>
            <a:off x="230293" y="598373"/>
            <a:ext cx="2451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Core System Features: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54B87DB-96B5-4CB8-A85B-D33A11C55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93" y="884390"/>
            <a:ext cx="8567914" cy="300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1. RBAC (Role-Based Access Control):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Applicants: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Create requests, upload docs, view status.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Staff: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View queue, verify specific documents, final appraisal decision.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2. Document Verification System: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Staff can preview PDFs/Images directly in the browser.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Individual documents can be marked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Funnel Display" pitchFamily="2" charset="0"/>
              </a:rPr>
              <a:t>VERIFIED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unnel Display" pitchFamily="2" charset="0"/>
              </a:rPr>
              <a:t>REJECTED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with comments.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9C5BFC-48AC-4154-A51E-42913005F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The Workflow: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706-2865-4298-A8EA-47493AE8B30D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End-to-End Application Flow: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D821D-2C2B-424D-9E3B-36CA53BA594A}"/>
              </a:ext>
            </a:extLst>
          </p:cNvPr>
          <p:cNvSpPr txBox="1"/>
          <p:nvPr/>
        </p:nvSpPr>
        <p:spPr>
          <a:xfrm>
            <a:off x="230293" y="1165013"/>
            <a:ext cx="870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B0F23B-89FF-43BE-93EC-E1B7879FFB6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3772" y="1043348"/>
            <a:ext cx="8867983" cy="2265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Application Creation: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User inputs Turnover, Loan Amount, and Business Type.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Auto-Eligibility Check: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System immediately calculates status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Funnel Display" pitchFamily="2" charset="0"/>
              </a:rPr>
              <a:t>PENDING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vs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Funnel Display" pitchFamily="2" charset="0"/>
              </a:rPr>
              <a:t>. INELIGIBLE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Document Upload: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User uploads mandatory proofs (PAN, ITR, Balance Sheets).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Staff Review: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Bank Staff logs in -&gt; Previews Docs -&gt; Verifies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Final Decision: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System auto-updates status 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Funnel Display" pitchFamily="2" charset="0"/>
              </a:rPr>
              <a:t>READY FOR APPRAISAL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only when all docs are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3206F5-CD36-4685-9E37-134583E9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Security Measures: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706-2865-4298-A8EA-47493AE8B30D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Security &amp; Compliance: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D821D-2C2B-424D-9E3B-36CA53BA594A}"/>
              </a:ext>
            </a:extLst>
          </p:cNvPr>
          <p:cNvSpPr txBox="1"/>
          <p:nvPr/>
        </p:nvSpPr>
        <p:spPr>
          <a:xfrm>
            <a:off x="230293" y="1165013"/>
            <a:ext cx="870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B0F23B-89FF-43BE-93EC-E1B7879FFB6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3773" y="1132063"/>
            <a:ext cx="8867980" cy="300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Authentication: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JSON Web Tokens (JWT) for secure, stateless API access.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Data Protection:</a:t>
            </a:r>
            <a:endParaRPr lang="en-IN" sz="1600" dirty="0">
              <a:solidFill>
                <a:srgbClr val="0070C0"/>
              </a:solidFill>
              <a:latin typeface="Funnel Display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rgbClr val="0070C0"/>
                </a:solidFill>
                <a:latin typeface="Funnel Display" pitchFamily="2" charset="0"/>
              </a:rPr>
              <a:t>BCrypt</a:t>
            </a: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 Hashing: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Passwords are encrypted before storage; never stored in plain text.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Access Control:</a:t>
            </a:r>
            <a:endParaRPr lang="en-IN" sz="1600" dirty="0">
              <a:solidFill>
                <a:srgbClr val="0070C0"/>
              </a:solidFill>
              <a:latin typeface="Funnel Display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CORS Configuration: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API restricts access to authorized frontend domains only.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File Validation: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 Backend checks to ensure only valid document formats are uploaded.</a:t>
            </a:r>
          </a:p>
        </p:txBody>
      </p:sp>
    </p:spTree>
    <p:extLst>
      <p:ext uri="{BB962C8B-B14F-4D97-AF65-F5344CB8AC3E}">
        <p14:creationId xmlns:p14="http://schemas.microsoft.com/office/powerpoint/2010/main" val="102401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BB7A90C-9C4A-4FBA-84AF-D8934D813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Live Demo 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706-2865-4298-A8EA-47493AE8B30D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Demonstration Setup: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D821D-2C2B-424D-9E3B-36CA53BA594A}"/>
              </a:ext>
            </a:extLst>
          </p:cNvPr>
          <p:cNvSpPr txBox="1"/>
          <p:nvPr/>
        </p:nvSpPr>
        <p:spPr>
          <a:xfrm>
            <a:off x="230293" y="1165013"/>
            <a:ext cx="870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B70CAC-ACDD-44DD-B467-1BB95F24C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66" y="1560964"/>
            <a:ext cx="4149728" cy="2604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E8B18F-D29D-4D76-A600-53A672902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02" y="1137262"/>
            <a:ext cx="5579055" cy="3452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733D68-8B19-4B75-859C-2FE3ACCB042F}"/>
              </a:ext>
            </a:extLst>
          </p:cNvPr>
          <p:cNvSpPr txBox="1"/>
          <p:nvPr/>
        </p:nvSpPr>
        <p:spPr>
          <a:xfrm>
            <a:off x="6014721" y="1165013"/>
            <a:ext cx="2783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1E9C601-4FF5-43E4-9A33-932D1DBCD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028" y="1933642"/>
            <a:ext cx="355599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Demo Data: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System pre-loaded with comprehensive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Applicant Role: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ID:</a:t>
            </a:r>
            <a:r>
              <a:rPr lang="en-US" altLang="en-US" sz="1600" dirty="0">
                <a:solidFill>
                  <a:srgbClr val="0070C0"/>
                </a:solidFill>
                <a:latin typeface="Funnel Display" pitchFamily="2" charset="0"/>
              </a:rPr>
              <a:t> APPLICANT-DEMO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Create App, Upload Docs, Chat.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6D1B9-B0D2-403F-B46A-3E4D9D4CB41D}"/>
              </a:ext>
            </a:extLst>
          </p:cNvPr>
          <p:cNvSpPr txBox="1"/>
          <p:nvPr/>
        </p:nvSpPr>
        <p:spPr>
          <a:xfrm>
            <a:off x="1566966" y="4555656"/>
            <a:ext cx="2503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User Dashboard Screen</a:t>
            </a:r>
          </a:p>
        </p:txBody>
      </p:sp>
      <p:grpSp>
        <p:nvGrpSpPr>
          <p:cNvPr id="15" name="Google Shape;4612;p55">
            <a:extLst>
              <a:ext uri="{FF2B5EF4-FFF2-40B4-BE49-F238E27FC236}">
                <a16:creationId xmlns:a16="http://schemas.microsoft.com/office/drawing/2014/main" id="{5EC395ED-8921-4C68-A782-29CB1E792A5D}"/>
              </a:ext>
            </a:extLst>
          </p:cNvPr>
          <p:cNvGrpSpPr/>
          <p:nvPr/>
        </p:nvGrpSpPr>
        <p:grpSpPr>
          <a:xfrm>
            <a:off x="7460751" y="159624"/>
            <a:ext cx="1337810" cy="1113763"/>
            <a:chOff x="2819400" y="3422522"/>
            <a:chExt cx="364235" cy="279177"/>
          </a:xfrm>
          <a:solidFill>
            <a:srgbClr val="0070C0"/>
          </a:solidFill>
        </p:grpSpPr>
        <p:sp>
          <p:nvSpPr>
            <p:cNvPr id="16" name="Google Shape;4613;p55">
              <a:extLst>
                <a:ext uri="{FF2B5EF4-FFF2-40B4-BE49-F238E27FC236}">
                  <a16:creationId xmlns:a16="http://schemas.microsoft.com/office/drawing/2014/main" id="{704855BA-E055-49B0-8030-911FDA7F5CCA}"/>
                </a:ext>
              </a:extLst>
            </p:cNvPr>
            <p:cNvSpPr/>
            <p:nvPr/>
          </p:nvSpPr>
          <p:spPr>
            <a:xfrm>
              <a:off x="2819400" y="3422522"/>
              <a:ext cx="327850" cy="279177"/>
            </a:xfrm>
            <a:custGeom>
              <a:avLst/>
              <a:gdLst/>
              <a:ahLst/>
              <a:cxnLst/>
              <a:rect l="l" t="t" r="r" b="b"/>
              <a:pathLst>
                <a:path w="327850" h="279177" extrusionOk="0">
                  <a:moveTo>
                    <a:pt x="30984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212598"/>
                  </a:lnTo>
                  <a:cubicBezTo>
                    <a:pt x="0" y="222409"/>
                    <a:pt x="8001" y="230505"/>
                    <a:pt x="17907" y="230505"/>
                  </a:cubicBezTo>
                  <a:lnTo>
                    <a:pt x="120968" y="230505"/>
                  </a:lnTo>
                  <a:lnTo>
                    <a:pt x="116300" y="267748"/>
                  </a:lnTo>
                  <a:lnTo>
                    <a:pt x="109157" y="267748"/>
                  </a:lnTo>
                  <a:cubicBezTo>
                    <a:pt x="106013" y="267748"/>
                    <a:pt x="103442" y="270319"/>
                    <a:pt x="103442" y="273463"/>
                  </a:cubicBezTo>
                  <a:cubicBezTo>
                    <a:pt x="103442" y="276606"/>
                    <a:pt x="106013" y="279178"/>
                    <a:pt x="109157" y="279178"/>
                  </a:cubicBezTo>
                  <a:lnTo>
                    <a:pt x="139541" y="279178"/>
                  </a:lnTo>
                  <a:cubicBezTo>
                    <a:pt x="142685" y="279178"/>
                    <a:pt x="145256" y="276606"/>
                    <a:pt x="145256" y="273463"/>
                  </a:cubicBezTo>
                  <a:cubicBezTo>
                    <a:pt x="145256" y="270319"/>
                    <a:pt x="142685" y="267748"/>
                    <a:pt x="139541" y="267748"/>
                  </a:cubicBezTo>
                  <a:lnTo>
                    <a:pt x="127730" y="267748"/>
                  </a:lnTo>
                  <a:lnTo>
                    <a:pt x="132398" y="230505"/>
                  </a:lnTo>
                  <a:lnTo>
                    <a:pt x="139541" y="230505"/>
                  </a:lnTo>
                  <a:cubicBezTo>
                    <a:pt x="142685" y="230505"/>
                    <a:pt x="145256" y="227933"/>
                    <a:pt x="145256" y="224790"/>
                  </a:cubicBezTo>
                  <a:cubicBezTo>
                    <a:pt x="145256" y="221647"/>
                    <a:pt x="142685" y="219075"/>
                    <a:pt x="139541" y="219075"/>
                  </a:cubicBezTo>
                  <a:lnTo>
                    <a:pt x="17907" y="219075"/>
                  </a:lnTo>
                  <a:cubicBezTo>
                    <a:pt x="14383" y="219075"/>
                    <a:pt x="11430" y="216217"/>
                    <a:pt x="11430" y="212598"/>
                  </a:cubicBezTo>
                  <a:lnTo>
                    <a:pt x="11430" y="193929"/>
                  </a:lnTo>
                  <a:lnTo>
                    <a:pt x="139541" y="193929"/>
                  </a:lnTo>
                  <a:cubicBezTo>
                    <a:pt x="142685" y="193929"/>
                    <a:pt x="145256" y="191357"/>
                    <a:pt x="145256" y="188214"/>
                  </a:cubicBezTo>
                  <a:cubicBezTo>
                    <a:pt x="145256" y="185071"/>
                    <a:pt x="142685" y="182499"/>
                    <a:pt x="139541" y="182499"/>
                  </a:cubicBezTo>
                  <a:lnTo>
                    <a:pt x="11430" y="182499"/>
                  </a:lnTo>
                  <a:lnTo>
                    <a:pt x="11430" y="17907"/>
                  </a:lnTo>
                  <a:cubicBezTo>
                    <a:pt x="11430" y="14383"/>
                    <a:pt x="14288" y="11430"/>
                    <a:pt x="17907" y="11430"/>
                  </a:cubicBezTo>
                  <a:lnTo>
                    <a:pt x="309944" y="11430"/>
                  </a:lnTo>
                  <a:cubicBezTo>
                    <a:pt x="313468" y="11430"/>
                    <a:pt x="316421" y="14288"/>
                    <a:pt x="316421" y="17907"/>
                  </a:cubicBezTo>
                  <a:lnTo>
                    <a:pt x="316421" y="139541"/>
                  </a:lnTo>
                  <a:cubicBezTo>
                    <a:pt x="316421" y="142685"/>
                    <a:pt x="318992" y="145256"/>
                    <a:pt x="322136" y="145256"/>
                  </a:cubicBezTo>
                  <a:cubicBezTo>
                    <a:pt x="325279" y="145256"/>
                    <a:pt x="327850" y="142685"/>
                    <a:pt x="327850" y="139541"/>
                  </a:cubicBezTo>
                  <a:lnTo>
                    <a:pt x="327850" y="17907"/>
                  </a:lnTo>
                  <a:cubicBezTo>
                    <a:pt x="327850" y="8096"/>
                    <a:pt x="319850" y="0"/>
                    <a:pt x="3099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614;p55">
              <a:extLst>
                <a:ext uri="{FF2B5EF4-FFF2-40B4-BE49-F238E27FC236}">
                  <a16:creationId xmlns:a16="http://schemas.microsoft.com/office/drawing/2014/main" id="{F142BF5F-6D2C-4416-8809-C52FBC6BD4CF}"/>
                </a:ext>
              </a:extLst>
            </p:cNvPr>
            <p:cNvSpPr/>
            <p:nvPr/>
          </p:nvSpPr>
          <p:spPr>
            <a:xfrm>
              <a:off x="2977515" y="3532059"/>
              <a:ext cx="120967" cy="169640"/>
            </a:xfrm>
            <a:custGeom>
              <a:avLst/>
              <a:gdLst/>
              <a:ahLst/>
              <a:cxnLst/>
              <a:rect l="l" t="t" r="r" b="b"/>
              <a:pathLst>
                <a:path w="120967" h="169640" extrusionOk="0">
                  <a:moveTo>
                    <a:pt x="103061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51733"/>
                  </a:lnTo>
                  <a:cubicBezTo>
                    <a:pt x="0" y="161544"/>
                    <a:pt x="8001" y="169640"/>
                    <a:pt x="17907" y="169640"/>
                  </a:cubicBezTo>
                  <a:lnTo>
                    <a:pt x="103061" y="169640"/>
                  </a:lnTo>
                  <a:cubicBezTo>
                    <a:pt x="112871" y="169640"/>
                    <a:pt x="120967" y="161639"/>
                    <a:pt x="120967" y="151733"/>
                  </a:cubicBezTo>
                  <a:lnTo>
                    <a:pt x="120967" y="17907"/>
                  </a:lnTo>
                  <a:cubicBezTo>
                    <a:pt x="120967" y="8096"/>
                    <a:pt x="112966" y="0"/>
                    <a:pt x="103061" y="0"/>
                  </a:cubicBezTo>
                  <a:close/>
                  <a:moveTo>
                    <a:pt x="109538" y="151733"/>
                  </a:moveTo>
                  <a:cubicBezTo>
                    <a:pt x="109538" y="155258"/>
                    <a:pt x="106680" y="158210"/>
                    <a:pt x="103061" y="158210"/>
                  </a:cubicBezTo>
                  <a:lnTo>
                    <a:pt x="17907" y="158210"/>
                  </a:lnTo>
                  <a:cubicBezTo>
                    <a:pt x="14383" y="158210"/>
                    <a:pt x="11430" y="155353"/>
                    <a:pt x="11430" y="151733"/>
                  </a:cubicBezTo>
                  <a:lnTo>
                    <a:pt x="11430" y="145256"/>
                  </a:lnTo>
                  <a:lnTo>
                    <a:pt x="109538" y="145256"/>
                  </a:lnTo>
                  <a:lnTo>
                    <a:pt x="109538" y="151733"/>
                  </a:lnTo>
                  <a:lnTo>
                    <a:pt x="109538" y="151733"/>
                  </a:lnTo>
                  <a:close/>
                  <a:moveTo>
                    <a:pt x="109538" y="133826"/>
                  </a:moveTo>
                  <a:lnTo>
                    <a:pt x="11430" y="133826"/>
                  </a:lnTo>
                  <a:lnTo>
                    <a:pt x="11430" y="35719"/>
                  </a:lnTo>
                  <a:lnTo>
                    <a:pt x="109538" y="35719"/>
                  </a:lnTo>
                  <a:lnTo>
                    <a:pt x="109538" y="133826"/>
                  </a:lnTo>
                  <a:lnTo>
                    <a:pt x="109538" y="133826"/>
                  </a:lnTo>
                  <a:close/>
                  <a:moveTo>
                    <a:pt x="109538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103061" y="11335"/>
                  </a:lnTo>
                  <a:cubicBezTo>
                    <a:pt x="106585" y="11335"/>
                    <a:pt x="109538" y="14192"/>
                    <a:pt x="109538" y="17812"/>
                  </a:cubicBezTo>
                  <a:lnTo>
                    <a:pt x="109538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15;p55">
              <a:extLst>
                <a:ext uri="{FF2B5EF4-FFF2-40B4-BE49-F238E27FC236}">
                  <a16:creationId xmlns:a16="http://schemas.microsoft.com/office/drawing/2014/main" id="{0A9F3A21-95B7-475E-BC0B-4717EAD73C11}"/>
                </a:ext>
              </a:extLst>
            </p:cNvPr>
            <p:cNvSpPr/>
            <p:nvPr/>
          </p:nvSpPr>
          <p:spPr>
            <a:xfrm>
              <a:off x="3111341" y="3580732"/>
              <a:ext cx="72294" cy="120967"/>
            </a:xfrm>
            <a:custGeom>
              <a:avLst/>
              <a:gdLst/>
              <a:ahLst/>
              <a:cxnLst/>
              <a:rect l="l" t="t" r="r" b="b"/>
              <a:pathLst>
                <a:path w="72294" h="120967" extrusionOk="0">
                  <a:moveTo>
                    <a:pt x="5438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03061"/>
                  </a:lnTo>
                  <a:cubicBezTo>
                    <a:pt x="0" y="112871"/>
                    <a:pt x="8001" y="120967"/>
                    <a:pt x="17907" y="120967"/>
                  </a:cubicBezTo>
                  <a:lnTo>
                    <a:pt x="54388" y="120967"/>
                  </a:lnTo>
                  <a:cubicBezTo>
                    <a:pt x="64198" y="120967"/>
                    <a:pt x="72295" y="112967"/>
                    <a:pt x="72295" y="103061"/>
                  </a:cubicBezTo>
                  <a:lnTo>
                    <a:pt x="72295" y="17907"/>
                  </a:lnTo>
                  <a:cubicBezTo>
                    <a:pt x="72295" y="8096"/>
                    <a:pt x="64294" y="0"/>
                    <a:pt x="54388" y="0"/>
                  </a:cubicBezTo>
                  <a:close/>
                  <a:moveTo>
                    <a:pt x="60865" y="103061"/>
                  </a:moveTo>
                  <a:cubicBezTo>
                    <a:pt x="60865" y="106585"/>
                    <a:pt x="58007" y="109538"/>
                    <a:pt x="54388" y="109538"/>
                  </a:cubicBezTo>
                  <a:lnTo>
                    <a:pt x="17907" y="109538"/>
                  </a:lnTo>
                  <a:cubicBezTo>
                    <a:pt x="14383" y="109538"/>
                    <a:pt x="11430" y="106680"/>
                    <a:pt x="11430" y="103061"/>
                  </a:cubicBezTo>
                  <a:lnTo>
                    <a:pt x="11430" y="96583"/>
                  </a:lnTo>
                  <a:lnTo>
                    <a:pt x="60865" y="96583"/>
                  </a:lnTo>
                  <a:lnTo>
                    <a:pt x="60865" y="103061"/>
                  </a:lnTo>
                  <a:lnTo>
                    <a:pt x="60865" y="103061"/>
                  </a:lnTo>
                  <a:close/>
                  <a:moveTo>
                    <a:pt x="60865" y="85154"/>
                  </a:moveTo>
                  <a:lnTo>
                    <a:pt x="11430" y="85154"/>
                  </a:lnTo>
                  <a:lnTo>
                    <a:pt x="11430" y="35719"/>
                  </a:lnTo>
                  <a:lnTo>
                    <a:pt x="60865" y="35719"/>
                  </a:lnTo>
                  <a:lnTo>
                    <a:pt x="60865" y="85154"/>
                  </a:lnTo>
                  <a:close/>
                  <a:moveTo>
                    <a:pt x="60865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54388" y="11335"/>
                  </a:lnTo>
                  <a:cubicBezTo>
                    <a:pt x="57912" y="11335"/>
                    <a:pt x="60865" y="14192"/>
                    <a:pt x="60865" y="17812"/>
                  </a:cubicBezTo>
                  <a:lnTo>
                    <a:pt x="60865" y="24289"/>
                  </a:lnTo>
                  <a:lnTo>
                    <a:pt x="60865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315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DDACA6-864A-440F-AE82-05AA1470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Live Demo 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706-2865-4298-A8EA-47493AE8B30D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Demonstration Setup: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D821D-2C2B-424D-9E3B-36CA53BA594A}"/>
              </a:ext>
            </a:extLst>
          </p:cNvPr>
          <p:cNvSpPr txBox="1"/>
          <p:nvPr/>
        </p:nvSpPr>
        <p:spPr>
          <a:xfrm>
            <a:off x="230293" y="1165013"/>
            <a:ext cx="870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8B18F-D29D-4D76-A600-53A672902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02" y="1137262"/>
            <a:ext cx="5579055" cy="3452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733D68-8B19-4B75-859C-2FE3ACCB042F}"/>
              </a:ext>
            </a:extLst>
          </p:cNvPr>
          <p:cNvSpPr txBox="1"/>
          <p:nvPr/>
        </p:nvSpPr>
        <p:spPr>
          <a:xfrm>
            <a:off x="6014721" y="1165013"/>
            <a:ext cx="2783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1E9C601-4FF5-43E4-9A33-932D1DBCD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028" y="1933642"/>
            <a:ext cx="355599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Demo Data: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System pre-loaded with comprehensive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Applicant Role: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ID:</a:t>
            </a:r>
            <a:r>
              <a:rPr lang="en-US" altLang="en-US" sz="1600" dirty="0">
                <a:solidFill>
                  <a:srgbClr val="0070C0"/>
                </a:solidFill>
                <a:latin typeface="Funnel Display" pitchFamily="2" charset="0"/>
              </a:rPr>
              <a:t> APPLICANT-DEMO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Create App, Upload Docs, Chat.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D4C43-0464-4686-8EBE-523A9630817D}"/>
              </a:ext>
            </a:extLst>
          </p:cNvPr>
          <p:cNvSpPr txBox="1"/>
          <p:nvPr/>
        </p:nvSpPr>
        <p:spPr>
          <a:xfrm>
            <a:off x="1566966" y="4555656"/>
            <a:ext cx="3120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Document Upload Screen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1B9F7B-1798-4BC9-8839-4ADFD6808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83" y="1535299"/>
            <a:ext cx="4170406" cy="2623528"/>
          </a:xfrm>
          <a:prstGeom prst="rect">
            <a:avLst/>
          </a:prstGeom>
        </p:spPr>
      </p:pic>
      <p:grpSp>
        <p:nvGrpSpPr>
          <p:cNvPr id="16" name="Google Shape;4612;p55">
            <a:extLst>
              <a:ext uri="{FF2B5EF4-FFF2-40B4-BE49-F238E27FC236}">
                <a16:creationId xmlns:a16="http://schemas.microsoft.com/office/drawing/2014/main" id="{42AF56D4-3B0A-48A1-A956-22C3F0D3203A}"/>
              </a:ext>
            </a:extLst>
          </p:cNvPr>
          <p:cNvGrpSpPr/>
          <p:nvPr/>
        </p:nvGrpSpPr>
        <p:grpSpPr>
          <a:xfrm>
            <a:off x="7460751" y="159624"/>
            <a:ext cx="1337810" cy="1113763"/>
            <a:chOff x="2819400" y="3422522"/>
            <a:chExt cx="364235" cy="279177"/>
          </a:xfrm>
          <a:solidFill>
            <a:srgbClr val="0070C0"/>
          </a:solidFill>
        </p:grpSpPr>
        <p:sp>
          <p:nvSpPr>
            <p:cNvPr id="17" name="Google Shape;4613;p55">
              <a:extLst>
                <a:ext uri="{FF2B5EF4-FFF2-40B4-BE49-F238E27FC236}">
                  <a16:creationId xmlns:a16="http://schemas.microsoft.com/office/drawing/2014/main" id="{4D680D23-9595-4826-A9E2-7B6273AA06D7}"/>
                </a:ext>
              </a:extLst>
            </p:cNvPr>
            <p:cNvSpPr/>
            <p:nvPr/>
          </p:nvSpPr>
          <p:spPr>
            <a:xfrm>
              <a:off x="2819400" y="3422522"/>
              <a:ext cx="327850" cy="279177"/>
            </a:xfrm>
            <a:custGeom>
              <a:avLst/>
              <a:gdLst/>
              <a:ahLst/>
              <a:cxnLst/>
              <a:rect l="l" t="t" r="r" b="b"/>
              <a:pathLst>
                <a:path w="327850" h="279177" extrusionOk="0">
                  <a:moveTo>
                    <a:pt x="30984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212598"/>
                  </a:lnTo>
                  <a:cubicBezTo>
                    <a:pt x="0" y="222409"/>
                    <a:pt x="8001" y="230505"/>
                    <a:pt x="17907" y="230505"/>
                  </a:cubicBezTo>
                  <a:lnTo>
                    <a:pt x="120968" y="230505"/>
                  </a:lnTo>
                  <a:lnTo>
                    <a:pt x="116300" y="267748"/>
                  </a:lnTo>
                  <a:lnTo>
                    <a:pt x="109157" y="267748"/>
                  </a:lnTo>
                  <a:cubicBezTo>
                    <a:pt x="106013" y="267748"/>
                    <a:pt x="103442" y="270319"/>
                    <a:pt x="103442" y="273463"/>
                  </a:cubicBezTo>
                  <a:cubicBezTo>
                    <a:pt x="103442" y="276606"/>
                    <a:pt x="106013" y="279178"/>
                    <a:pt x="109157" y="279178"/>
                  </a:cubicBezTo>
                  <a:lnTo>
                    <a:pt x="139541" y="279178"/>
                  </a:lnTo>
                  <a:cubicBezTo>
                    <a:pt x="142685" y="279178"/>
                    <a:pt x="145256" y="276606"/>
                    <a:pt x="145256" y="273463"/>
                  </a:cubicBezTo>
                  <a:cubicBezTo>
                    <a:pt x="145256" y="270319"/>
                    <a:pt x="142685" y="267748"/>
                    <a:pt x="139541" y="267748"/>
                  </a:cubicBezTo>
                  <a:lnTo>
                    <a:pt x="127730" y="267748"/>
                  </a:lnTo>
                  <a:lnTo>
                    <a:pt x="132398" y="230505"/>
                  </a:lnTo>
                  <a:lnTo>
                    <a:pt x="139541" y="230505"/>
                  </a:lnTo>
                  <a:cubicBezTo>
                    <a:pt x="142685" y="230505"/>
                    <a:pt x="145256" y="227933"/>
                    <a:pt x="145256" y="224790"/>
                  </a:cubicBezTo>
                  <a:cubicBezTo>
                    <a:pt x="145256" y="221647"/>
                    <a:pt x="142685" y="219075"/>
                    <a:pt x="139541" y="219075"/>
                  </a:cubicBezTo>
                  <a:lnTo>
                    <a:pt x="17907" y="219075"/>
                  </a:lnTo>
                  <a:cubicBezTo>
                    <a:pt x="14383" y="219075"/>
                    <a:pt x="11430" y="216217"/>
                    <a:pt x="11430" y="212598"/>
                  </a:cubicBezTo>
                  <a:lnTo>
                    <a:pt x="11430" y="193929"/>
                  </a:lnTo>
                  <a:lnTo>
                    <a:pt x="139541" y="193929"/>
                  </a:lnTo>
                  <a:cubicBezTo>
                    <a:pt x="142685" y="193929"/>
                    <a:pt x="145256" y="191357"/>
                    <a:pt x="145256" y="188214"/>
                  </a:cubicBezTo>
                  <a:cubicBezTo>
                    <a:pt x="145256" y="185071"/>
                    <a:pt x="142685" y="182499"/>
                    <a:pt x="139541" y="182499"/>
                  </a:cubicBezTo>
                  <a:lnTo>
                    <a:pt x="11430" y="182499"/>
                  </a:lnTo>
                  <a:lnTo>
                    <a:pt x="11430" y="17907"/>
                  </a:lnTo>
                  <a:cubicBezTo>
                    <a:pt x="11430" y="14383"/>
                    <a:pt x="14288" y="11430"/>
                    <a:pt x="17907" y="11430"/>
                  </a:cubicBezTo>
                  <a:lnTo>
                    <a:pt x="309944" y="11430"/>
                  </a:lnTo>
                  <a:cubicBezTo>
                    <a:pt x="313468" y="11430"/>
                    <a:pt x="316421" y="14288"/>
                    <a:pt x="316421" y="17907"/>
                  </a:cubicBezTo>
                  <a:lnTo>
                    <a:pt x="316421" y="139541"/>
                  </a:lnTo>
                  <a:cubicBezTo>
                    <a:pt x="316421" y="142685"/>
                    <a:pt x="318992" y="145256"/>
                    <a:pt x="322136" y="145256"/>
                  </a:cubicBezTo>
                  <a:cubicBezTo>
                    <a:pt x="325279" y="145256"/>
                    <a:pt x="327850" y="142685"/>
                    <a:pt x="327850" y="139541"/>
                  </a:cubicBezTo>
                  <a:lnTo>
                    <a:pt x="327850" y="17907"/>
                  </a:lnTo>
                  <a:cubicBezTo>
                    <a:pt x="327850" y="8096"/>
                    <a:pt x="319850" y="0"/>
                    <a:pt x="3099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14;p55">
              <a:extLst>
                <a:ext uri="{FF2B5EF4-FFF2-40B4-BE49-F238E27FC236}">
                  <a16:creationId xmlns:a16="http://schemas.microsoft.com/office/drawing/2014/main" id="{63F489CB-B2CA-4F99-8CFA-E72681C36C4D}"/>
                </a:ext>
              </a:extLst>
            </p:cNvPr>
            <p:cNvSpPr/>
            <p:nvPr/>
          </p:nvSpPr>
          <p:spPr>
            <a:xfrm>
              <a:off x="2977515" y="3532059"/>
              <a:ext cx="120967" cy="169640"/>
            </a:xfrm>
            <a:custGeom>
              <a:avLst/>
              <a:gdLst/>
              <a:ahLst/>
              <a:cxnLst/>
              <a:rect l="l" t="t" r="r" b="b"/>
              <a:pathLst>
                <a:path w="120967" h="169640" extrusionOk="0">
                  <a:moveTo>
                    <a:pt x="103061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51733"/>
                  </a:lnTo>
                  <a:cubicBezTo>
                    <a:pt x="0" y="161544"/>
                    <a:pt x="8001" y="169640"/>
                    <a:pt x="17907" y="169640"/>
                  </a:cubicBezTo>
                  <a:lnTo>
                    <a:pt x="103061" y="169640"/>
                  </a:lnTo>
                  <a:cubicBezTo>
                    <a:pt x="112871" y="169640"/>
                    <a:pt x="120967" y="161639"/>
                    <a:pt x="120967" y="151733"/>
                  </a:cubicBezTo>
                  <a:lnTo>
                    <a:pt x="120967" y="17907"/>
                  </a:lnTo>
                  <a:cubicBezTo>
                    <a:pt x="120967" y="8096"/>
                    <a:pt x="112966" y="0"/>
                    <a:pt x="103061" y="0"/>
                  </a:cubicBezTo>
                  <a:close/>
                  <a:moveTo>
                    <a:pt x="109538" y="151733"/>
                  </a:moveTo>
                  <a:cubicBezTo>
                    <a:pt x="109538" y="155258"/>
                    <a:pt x="106680" y="158210"/>
                    <a:pt x="103061" y="158210"/>
                  </a:cubicBezTo>
                  <a:lnTo>
                    <a:pt x="17907" y="158210"/>
                  </a:lnTo>
                  <a:cubicBezTo>
                    <a:pt x="14383" y="158210"/>
                    <a:pt x="11430" y="155353"/>
                    <a:pt x="11430" y="151733"/>
                  </a:cubicBezTo>
                  <a:lnTo>
                    <a:pt x="11430" y="145256"/>
                  </a:lnTo>
                  <a:lnTo>
                    <a:pt x="109538" y="145256"/>
                  </a:lnTo>
                  <a:lnTo>
                    <a:pt x="109538" y="151733"/>
                  </a:lnTo>
                  <a:lnTo>
                    <a:pt x="109538" y="151733"/>
                  </a:lnTo>
                  <a:close/>
                  <a:moveTo>
                    <a:pt x="109538" y="133826"/>
                  </a:moveTo>
                  <a:lnTo>
                    <a:pt x="11430" y="133826"/>
                  </a:lnTo>
                  <a:lnTo>
                    <a:pt x="11430" y="35719"/>
                  </a:lnTo>
                  <a:lnTo>
                    <a:pt x="109538" y="35719"/>
                  </a:lnTo>
                  <a:lnTo>
                    <a:pt x="109538" y="133826"/>
                  </a:lnTo>
                  <a:lnTo>
                    <a:pt x="109538" y="133826"/>
                  </a:lnTo>
                  <a:close/>
                  <a:moveTo>
                    <a:pt x="109538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103061" y="11335"/>
                  </a:lnTo>
                  <a:cubicBezTo>
                    <a:pt x="106585" y="11335"/>
                    <a:pt x="109538" y="14192"/>
                    <a:pt x="109538" y="17812"/>
                  </a:cubicBezTo>
                  <a:lnTo>
                    <a:pt x="109538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615;p55">
              <a:extLst>
                <a:ext uri="{FF2B5EF4-FFF2-40B4-BE49-F238E27FC236}">
                  <a16:creationId xmlns:a16="http://schemas.microsoft.com/office/drawing/2014/main" id="{6E489AA7-CF33-4363-B8E7-C052CDCE87A9}"/>
                </a:ext>
              </a:extLst>
            </p:cNvPr>
            <p:cNvSpPr/>
            <p:nvPr/>
          </p:nvSpPr>
          <p:spPr>
            <a:xfrm>
              <a:off x="3111341" y="3580732"/>
              <a:ext cx="72294" cy="120967"/>
            </a:xfrm>
            <a:custGeom>
              <a:avLst/>
              <a:gdLst/>
              <a:ahLst/>
              <a:cxnLst/>
              <a:rect l="l" t="t" r="r" b="b"/>
              <a:pathLst>
                <a:path w="72294" h="120967" extrusionOk="0">
                  <a:moveTo>
                    <a:pt x="5438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03061"/>
                  </a:lnTo>
                  <a:cubicBezTo>
                    <a:pt x="0" y="112871"/>
                    <a:pt x="8001" y="120967"/>
                    <a:pt x="17907" y="120967"/>
                  </a:cubicBezTo>
                  <a:lnTo>
                    <a:pt x="54388" y="120967"/>
                  </a:lnTo>
                  <a:cubicBezTo>
                    <a:pt x="64198" y="120967"/>
                    <a:pt x="72295" y="112967"/>
                    <a:pt x="72295" y="103061"/>
                  </a:cubicBezTo>
                  <a:lnTo>
                    <a:pt x="72295" y="17907"/>
                  </a:lnTo>
                  <a:cubicBezTo>
                    <a:pt x="72295" y="8096"/>
                    <a:pt x="64294" y="0"/>
                    <a:pt x="54388" y="0"/>
                  </a:cubicBezTo>
                  <a:close/>
                  <a:moveTo>
                    <a:pt x="60865" y="103061"/>
                  </a:moveTo>
                  <a:cubicBezTo>
                    <a:pt x="60865" y="106585"/>
                    <a:pt x="58007" y="109538"/>
                    <a:pt x="54388" y="109538"/>
                  </a:cubicBezTo>
                  <a:lnTo>
                    <a:pt x="17907" y="109538"/>
                  </a:lnTo>
                  <a:cubicBezTo>
                    <a:pt x="14383" y="109538"/>
                    <a:pt x="11430" y="106680"/>
                    <a:pt x="11430" y="103061"/>
                  </a:cubicBezTo>
                  <a:lnTo>
                    <a:pt x="11430" y="96583"/>
                  </a:lnTo>
                  <a:lnTo>
                    <a:pt x="60865" y="96583"/>
                  </a:lnTo>
                  <a:lnTo>
                    <a:pt x="60865" y="103061"/>
                  </a:lnTo>
                  <a:lnTo>
                    <a:pt x="60865" y="103061"/>
                  </a:lnTo>
                  <a:close/>
                  <a:moveTo>
                    <a:pt x="60865" y="85154"/>
                  </a:moveTo>
                  <a:lnTo>
                    <a:pt x="11430" y="85154"/>
                  </a:lnTo>
                  <a:lnTo>
                    <a:pt x="11430" y="35719"/>
                  </a:lnTo>
                  <a:lnTo>
                    <a:pt x="60865" y="35719"/>
                  </a:lnTo>
                  <a:lnTo>
                    <a:pt x="60865" y="85154"/>
                  </a:lnTo>
                  <a:close/>
                  <a:moveTo>
                    <a:pt x="60865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54388" y="11335"/>
                  </a:lnTo>
                  <a:cubicBezTo>
                    <a:pt x="57912" y="11335"/>
                    <a:pt x="60865" y="14192"/>
                    <a:pt x="60865" y="17812"/>
                  </a:cubicBezTo>
                  <a:lnTo>
                    <a:pt x="60865" y="24289"/>
                  </a:lnTo>
                  <a:lnTo>
                    <a:pt x="60865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3797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A3FBC38-A041-4BA3-A429-72FDDD29D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Live Demo 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706-2865-4298-A8EA-47493AE8B30D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Demonstration Setup: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D821D-2C2B-424D-9E3B-36CA53BA594A}"/>
              </a:ext>
            </a:extLst>
          </p:cNvPr>
          <p:cNvSpPr txBox="1"/>
          <p:nvPr/>
        </p:nvSpPr>
        <p:spPr>
          <a:xfrm>
            <a:off x="230293" y="1165013"/>
            <a:ext cx="870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8B18F-D29D-4D76-A600-53A672902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02" y="1137262"/>
            <a:ext cx="5579055" cy="3452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733D68-8B19-4B75-859C-2FE3ACCB042F}"/>
              </a:ext>
            </a:extLst>
          </p:cNvPr>
          <p:cNvSpPr txBox="1"/>
          <p:nvPr/>
        </p:nvSpPr>
        <p:spPr>
          <a:xfrm>
            <a:off x="6014721" y="1165013"/>
            <a:ext cx="2783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1E9C601-4FF5-43E4-9A33-932D1DBCD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028" y="2302974"/>
            <a:ext cx="35559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Bank Staff Role: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ID:</a:t>
            </a:r>
            <a:r>
              <a:rPr lang="en-US" altLang="en-US" sz="1600" dirty="0">
                <a:solidFill>
                  <a:srgbClr val="0070C0"/>
                </a:solidFill>
                <a:latin typeface="Funnel Display" pitchFamily="2" charset="0"/>
              </a:rPr>
              <a:t> STAFF-1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Action: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Funnel Display" pitchFamily="2" charset="0"/>
              </a:rPr>
              <a:t> Review Queue, Verify Docs, Approve/Reject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Funnel Display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8C4E75-7AB2-49DF-8FD5-DD849C66F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76" y="1535300"/>
            <a:ext cx="4204514" cy="26370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C1D2F6-D925-4951-8A52-7F8C36CE56F0}"/>
              </a:ext>
            </a:extLst>
          </p:cNvPr>
          <p:cNvSpPr txBox="1"/>
          <p:nvPr/>
        </p:nvSpPr>
        <p:spPr>
          <a:xfrm>
            <a:off x="1000797" y="4569202"/>
            <a:ext cx="3859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Bank Staff Application Review Screen</a:t>
            </a:r>
          </a:p>
        </p:txBody>
      </p:sp>
      <p:grpSp>
        <p:nvGrpSpPr>
          <p:cNvPr id="15" name="Google Shape;4612;p55">
            <a:extLst>
              <a:ext uri="{FF2B5EF4-FFF2-40B4-BE49-F238E27FC236}">
                <a16:creationId xmlns:a16="http://schemas.microsoft.com/office/drawing/2014/main" id="{A0101E70-C0EE-4F45-8B40-85D98EDD0657}"/>
              </a:ext>
            </a:extLst>
          </p:cNvPr>
          <p:cNvGrpSpPr/>
          <p:nvPr/>
        </p:nvGrpSpPr>
        <p:grpSpPr>
          <a:xfrm>
            <a:off x="7460751" y="159624"/>
            <a:ext cx="1337810" cy="1113763"/>
            <a:chOff x="2819400" y="3422522"/>
            <a:chExt cx="364235" cy="279177"/>
          </a:xfrm>
          <a:solidFill>
            <a:srgbClr val="0070C0"/>
          </a:solidFill>
        </p:grpSpPr>
        <p:sp>
          <p:nvSpPr>
            <p:cNvPr id="16" name="Google Shape;4613;p55">
              <a:extLst>
                <a:ext uri="{FF2B5EF4-FFF2-40B4-BE49-F238E27FC236}">
                  <a16:creationId xmlns:a16="http://schemas.microsoft.com/office/drawing/2014/main" id="{EACFAF79-6645-4170-87C0-289B13DC91DE}"/>
                </a:ext>
              </a:extLst>
            </p:cNvPr>
            <p:cNvSpPr/>
            <p:nvPr/>
          </p:nvSpPr>
          <p:spPr>
            <a:xfrm>
              <a:off x="2819400" y="3422522"/>
              <a:ext cx="327850" cy="279177"/>
            </a:xfrm>
            <a:custGeom>
              <a:avLst/>
              <a:gdLst/>
              <a:ahLst/>
              <a:cxnLst/>
              <a:rect l="l" t="t" r="r" b="b"/>
              <a:pathLst>
                <a:path w="327850" h="279177" extrusionOk="0">
                  <a:moveTo>
                    <a:pt x="30984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212598"/>
                  </a:lnTo>
                  <a:cubicBezTo>
                    <a:pt x="0" y="222409"/>
                    <a:pt x="8001" y="230505"/>
                    <a:pt x="17907" y="230505"/>
                  </a:cubicBezTo>
                  <a:lnTo>
                    <a:pt x="120968" y="230505"/>
                  </a:lnTo>
                  <a:lnTo>
                    <a:pt x="116300" y="267748"/>
                  </a:lnTo>
                  <a:lnTo>
                    <a:pt x="109157" y="267748"/>
                  </a:lnTo>
                  <a:cubicBezTo>
                    <a:pt x="106013" y="267748"/>
                    <a:pt x="103442" y="270319"/>
                    <a:pt x="103442" y="273463"/>
                  </a:cubicBezTo>
                  <a:cubicBezTo>
                    <a:pt x="103442" y="276606"/>
                    <a:pt x="106013" y="279178"/>
                    <a:pt x="109157" y="279178"/>
                  </a:cubicBezTo>
                  <a:lnTo>
                    <a:pt x="139541" y="279178"/>
                  </a:lnTo>
                  <a:cubicBezTo>
                    <a:pt x="142685" y="279178"/>
                    <a:pt x="145256" y="276606"/>
                    <a:pt x="145256" y="273463"/>
                  </a:cubicBezTo>
                  <a:cubicBezTo>
                    <a:pt x="145256" y="270319"/>
                    <a:pt x="142685" y="267748"/>
                    <a:pt x="139541" y="267748"/>
                  </a:cubicBezTo>
                  <a:lnTo>
                    <a:pt x="127730" y="267748"/>
                  </a:lnTo>
                  <a:lnTo>
                    <a:pt x="132398" y="230505"/>
                  </a:lnTo>
                  <a:lnTo>
                    <a:pt x="139541" y="230505"/>
                  </a:lnTo>
                  <a:cubicBezTo>
                    <a:pt x="142685" y="230505"/>
                    <a:pt x="145256" y="227933"/>
                    <a:pt x="145256" y="224790"/>
                  </a:cubicBezTo>
                  <a:cubicBezTo>
                    <a:pt x="145256" y="221647"/>
                    <a:pt x="142685" y="219075"/>
                    <a:pt x="139541" y="219075"/>
                  </a:cubicBezTo>
                  <a:lnTo>
                    <a:pt x="17907" y="219075"/>
                  </a:lnTo>
                  <a:cubicBezTo>
                    <a:pt x="14383" y="219075"/>
                    <a:pt x="11430" y="216217"/>
                    <a:pt x="11430" y="212598"/>
                  </a:cubicBezTo>
                  <a:lnTo>
                    <a:pt x="11430" y="193929"/>
                  </a:lnTo>
                  <a:lnTo>
                    <a:pt x="139541" y="193929"/>
                  </a:lnTo>
                  <a:cubicBezTo>
                    <a:pt x="142685" y="193929"/>
                    <a:pt x="145256" y="191357"/>
                    <a:pt x="145256" y="188214"/>
                  </a:cubicBezTo>
                  <a:cubicBezTo>
                    <a:pt x="145256" y="185071"/>
                    <a:pt x="142685" y="182499"/>
                    <a:pt x="139541" y="182499"/>
                  </a:cubicBezTo>
                  <a:lnTo>
                    <a:pt x="11430" y="182499"/>
                  </a:lnTo>
                  <a:lnTo>
                    <a:pt x="11430" y="17907"/>
                  </a:lnTo>
                  <a:cubicBezTo>
                    <a:pt x="11430" y="14383"/>
                    <a:pt x="14288" y="11430"/>
                    <a:pt x="17907" y="11430"/>
                  </a:cubicBezTo>
                  <a:lnTo>
                    <a:pt x="309944" y="11430"/>
                  </a:lnTo>
                  <a:cubicBezTo>
                    <a:pt x="313468" y="11430"/>
                    <a:pt x="316421" y="14288"/>
                    <a:pt x="316421" y="17907"/>
                  </a:cubicBezTo>
                  <a:lnTo>
                    <a:pt x="316421" y="139541"/>
                  </a:lnTo>
                  <a:cubicBezTo>
                    <a:pt x="316421" y="142685"/>
                    <a:pt x="318992" y="145256"/>
                    <a:pt x="322136" y="145256"/>
                  </a:cubicBezTo>
                  <a:cubicBezTo>
                    <a:pt x="325279" y="145256"/>
                    <a:pt x="327850" y="142685"/>
                    <a:pt x="327850" y="139541"/>
                  </a:cubicBezTo>
                  <a:lnTo>
                    <a:pt x="327850" y="17907"/>
                  </a:lnTo>
                  <a:cubicBezTo>
                    <a:pt x="327850" y="8096"/>
                    <a:pt x="319850" y="0"/>
                    <a:pt x="3099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614;p55">
              <a:extLst>
                <a:ext uri="{FF2B5EF4-FFF2-40B4-BE49-F238E27FC236}">
                  <a16:creationId xmlns:a16="http://schemas.microsoft.com/office/drawing/2014/main" id="{9AB41FA2-FE79-48ED-B106-7A5AF905FD02}"/>
                </a:ext>
              </a:extLst>
            </p:cNvPr>
            <p:cNvSpPr/>
            <p:nvPr/>
          </p:nvSpPr>
          <p:spPr>
            <a:xfrm>
              <a:off x="2977515" y="3532059"/>
              <a:ext cx="120967" cy="169640"/>
            </a:xfrm>
            <a:custGeom>
              <a:avLst/>
              <a:gdLst/>
              <a:ahLst/>
              <a:cxnLst/>
              <a:rect l="l" t="t" r="r" b="b"/>
              <a:pathLst>
                <a:path w="120967" h="169640" extrusionOk="0">
                  <a:moveTo>
                    <a:pt x="103061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51733"/>
                  </a:lnTo>
                  <a:cubicBezTo>
                    <a:pt x="0" y="161544"/>
                    <a:pt x="8001" y="169640"/>
                    <a:pt x="17907" y="169640"/>
                  </a:cubicBezTo>
                  <a:lnTo>
                    <a:pt x="103061" y="169640"/>
                  </a:lnTo>
                  <a:cubicBezTo>
                    <a:pt x="112871" y="169640"/>
                    <a:pt x="120967" y="161639"/>
                    <a:pt x="120967" y="151733"/>
                  </a:cubicBezTo>
                  <a:lnTo>
                    <a:pt x="120967" y="17907"/>
                  </a:lnTo>
                  <a:cubicBezTo>
                    <a:pt x="120967" y="8096"/>
                    <a:pt x="112966" y="0"/>
                    <a:pt x="103061" y="0"/>
                  </a:cubicBezTo>
                  <a:close/>
                  <a:moveTo>
                    <a:pt x="109538" y="151733"/>
                  </a:moveTo>
                  <a:cubicBezTo>
                    <a:pt x="109538" y="155258"/>
                    <a:pt x="106680" y="158210"/>
                    <a:pt x="103061" y="158210"/>
                  </a:cubicBezTo>
                  <a:lnTo>
                    <a:pt x="17907" y="158210"/>
                  </a:lnTo>
                  <a:cubicBezTo>
                    <a:pt x="14383" y="158210"/>
                    <a:pt x="11430" y="155353"/>
                    <a:pt x="11430" y="151733"/>
                  </a:cubicBezTo>
                  <a:lnTo>
                    <a:pt x="11430" y="145256"/>
                  </a:lnTo>
                  <a:lnTo>
                    <a:pt x="109538" y="145256"/>
                  </a:lnTo>
                  <a:lnTo>
                    <a:pt x="109538" y="151733"/>
                  </a:lnTo>
                  <a:lnTo>
                    <a:pt x="109538" y="151733"/>
                  </a:lnTo>
                  <a:close/>
                  <a:moveTo>
                    <a:pt x="109538" y="133826"/>
                  </a:moveTo>
                  <a:lnTo>
                    <a:pt x="11430" y="133826"/>
                  </a:lnTo>
                  <a:lnTo>
                    <a:pt x="11430" y="35719"/>
                  </a:lnTo>
                  <a:lnTo>
                    <a:pt x="109538" y="35719"/>
                  </a:lnTo>
                  <a:lnTo>
                    <a:pt x="109538" y="133826"/>
                  </a:lnTo>
                  <a:lnTo>
                    <a:pt x="109538" y="133826"/>
                  </a:lnTo>
                  <a:close/>
                  <a:moveTo>
                    <a:pt x="109538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103061" y="11335"/>
                  </a:lnTo>
                  <a:cubicBezTo>
                    <a:pt x="106585" y="11335"/>
                    <a:pt x="109538" y="14192"/>
                    <a:pt x="109538" y="17812"/>
                  </a:cubicBezTo>
                  <a:lnTo>
                    <a:pt x="109538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615;p55">
              <a:extLst>
                <a:ext uri="{FF2B5EF4-FFF2-40B4-BE49-F238E27FC236}">
                  <a16:creationId xmlns:a16="http://schemas.microsoft.com/office/drawing/2014/main" id="{71E0158E-282B-42B5-B477-534A8C860790}"/>
                </a:ext>
              </a:extLst>
            </p:cNvPr>
            <p:cNvSpPr/>
            <p:nvPr/>
          </p:nvSpPr>
          <p:spPr>
            <a:xfrm>
              <a:off x="3111341" y="3580732"/>
              <a:ext cx="72294" cy="120967"/>
            </a:xfrm>
            <a:custGeom>
              <a:avLst/>
              <a:gdLst/>
              <a:ahLst/>
              <a:cxnLst/>
              <a:rect l="l" t="t" r="r" b="b"/>
              <a:pathLst>
                <a:path w="72294" h="120967" extrusionOk="0">
                  <a:moveTo>
                    <a:pt x="5438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03061"/>
                  </a:lnTo>
                  <a:cubicBezTo>
                    <a:pt x="0" y="112871"/>
                    <a:pt x="8001" y="120967"/>
                    <a:pt x="17907" y="120967"/>
                  </a:cubicBezTo>
                  <a:lnTo>
                    <a:pt x="54388" y="120967"/>
                  </a:lnTo>
                  <a:cubicBezTo>
                    <a:pt x="64198" y="120967"/>
                    <a:pt x="72295" y="112967"/>
                    <a:pt x="72295" y="103061"/>
                  </a:cubicBezTo>
                  <a:lnTo>
                    <a:pt x="72295" y="17907"/>
                  </a:lnTo>
                  <a:cubicBezTo>
                    <a:pt x="72295" y="8096"/>
                    <a:pt x="64294" y="0"/>
                    <a:pt x="54388" y="0"/>
                  </a:cubicBezTo>
                  <a:close/>
                  <a:moveTo>
                    <a:pt x="60865" y="103061"/>
                  </a:moveTo>
                  <a:cubicBezTo>
                    <a:pt x="60865" y="106585"/>
                    <a:pt x="58007" y="109538"/>
                    <a:pt x="54388" y="109538"/>
                  </a:cubicBezTo>
                  <a:lnTo>
                    <a:pt x="17907" y="109538"/>
                  </a:lnTo>
                  <a:cubicBezTo>
                    <a:pt x="14383" y="109538"/>
                    <a:pt x="11430" y="106680"/>
                    <a:pt x="11430" y="103061"/>
                  </a:cubicBezTo>
                  <a:lnTo>
                    <a:pt x="11430" y="96583"/>
                  </a:lnTo>
                  <a:lnTo>
                    <a:pt x="60865" y="96583"/>
                  </a:lnTo>
                  <a:lnTo>
                    <a:pt x="60865" y="103061"/>
                  </a:lnTo>
                  <a:lnTo>
                    <a:pt x="60865" y="103061"/>
                  </a:lnTo>
                  <a:close/>
                  <a:moveTo>
                    <a:pt x="60865" y="85154"/>
                  </a:moveTo>
                  <a:lnTo>
                    <a:pt x="11430" y="85154"/>
                  </a:lnTo>
                  <a:lnTo>
                    <a:pt x="11430" y="35719"/>
                  </a:lnTo>
                  <a:lnTo>
                    <a:pt x="60865" y="35719"/>
                  </a:lnTo>
                  <a:lnTo>
                    <a:pt x="60865" y="85154"/>
                  </a:lnTo>
                  <a:close/>
                  <a:moveTo>
                    <a:pt x="60865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54388" y="11335"/>
                  </a:lnTo>
                  <a:cubicBezTo>
                    <a:pt x="57912" y="11335"/>
                    <a:pt x="60865" y="14192"/>
                    <a:pt x="60865" y="17812"/>
                  </a:cubicBezTo>
                  <a:lnTo>
                    <a:pt x="60865" y="24289"/>
                  </a:lnTo>
                  <a:lnTo>
                    <a:pt x="60865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212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BEB23BBA-16C5-4BBD-A3E4-B72E8B298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Live Demo 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24706-2865-4298-A8EA-47493AE8B30D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Demonstration Setup: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D821D-2C2B-424D-9E3B-36CA53BA594A}"/>
              </a:ext>
            </a:extLst>
          </p:cNvPr>
          <p:cNvSpPr txBox="1"/>
          <p:nvPr/>
        </p:nvSpPr>
        <p:spPr>
          <a:xfrm>
            <a:off x="230293" y="1165013"/>
            <a:ext cx="870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848665-55A9-4E7D-8E10-83E7A1A0E747}"/>
              </a:ext>
            </a:extLst>
          </p:cNvPr>
          <p:cNvGrpSpPr/>
          <p:nvPr/>
        </p:nvGrpSpPr>
        <p:grpSpPr>
          <a:xfrm>
            <a:off x="405762" y="1087338"/>
            <a:ext cx="1646489" cy="3569825"/>
            <a:chOff x="405762" y="1087338"/>
            <a:chExt cx="1646489" cy="35698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E3813B8-1D23-461F-82C8-F2171909FA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122" t="648" r="2761" b="926"/>
            <a:stretch/>
          </p:blipFill>
          <p:spPr>
            <a:xfrm>
              <a:off x="443775" y="1128713"/>
              <a:ext cx="1570462" cy="3473080"/>
            </a:xfrm>
            <a:prstGeom prst="roundRect">
              <a:avLst>
                <a:gd name="adj" fmla="val 5952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5BBCE8-7B73-4D55-A96C-4303436A4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5762" y="1087338"/>
              <a:ext cx="1646489" cy="3569825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FA6FD5-A0B4-43BD-83E9-BE247952BA43}"/>
              </a:ext>
            </a:extLst>
          </p:cNvPr>
          <p:cNvGrpSpPr/>
          <p:nvPr/>
        </p:nvGrpSpPr>
        <p:grpSpPr>
          <a:xfrm>
            <a:off x="2380542" y="1087338"/>
            <a:ext cx="1646489" cy="3583822"/>
            <a:chOff x="2925511" y="1087339"/>
            <a:chExt cx="1646489" cy="358382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F811822-3CF9-43CC-BEB8-5ECC4489E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35339" y="1128713"/>
              <a:ext cx="1617256" cy="3493766"/>
            </a:xfrm>
            <a:prstGeom prst="roundRect">
              <a:avLst>
                <a:gd name="adj" fmla="val 5771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3065E81-46EE-4666-BC8C-5FAD6989B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5511" y="1087339"/>
              <a:ext cx="1646489" cy="3583822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5A191F-EB52-4BB5-9823-40DBAC95ED76}"/>
              </a:ext>
            </a:extLst>
          </p:cNvPr>
          <p:cNvGrpSpPr/>
          <p:nvPr/>
        </p:nvGrpSpPr>
        <p:grpSpPr>
          <a:xfrm>
            <a:off x="4452198" y="1087338"/>
            <a:ext cx="1646489" cy="3583822"/>
            <a:chOff x="4452198" y="1087338"/>
            <a:chExt cx="1646489" cy="358382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1FC3806-3597-4241-AF2E-FAC159B69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95800" y="1128711"/>
              <a:ext cx="1581149" cy="3493767"/>
            </a:xfrm>
            <a:prstGeom prst="roundRect">
              <a:avLst>
                <a:gd name="adj" fmla="val 8534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7E9120B-EFEC-4D62-AA4E-9FF1A3504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2198" y="1087338"/>
              <a:ext cx="1646489" cy="358382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DBB408F-EE47-4DD6-AD8E-78ABD41E727D}"/>
              </a:ext>
            </a:extLst>
          </p:cNvPr>
          <p:cNvSpPr txBox="1"/>
          <p:nvPr/>
        </p:nvSpPr>
        <p:spPr>
          <a:xfrm>
            <a:off x="1034664" y="4744510"/>
            <a:ext cx="3859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Android Application Screen</a:t>
            </a:r>
          </a:p>
        </p:txBody>
      </p:sp>
      <p:grpSp>
        <p:nvGrpSpPr>
          <p:cNvPr id="16" name="Google Shape;4612;p55">
            <a:extLst>
              <a:ext uri="{FF2B5EF4-FFF2-40B4-BE49-F238E27FC236}">
                <a16:creationId xmlns:a16="http://schemas.microsoft.com/office/drawing/2014/main" id="{0A87A8A6-5D85-478D-9146-6D0C10FD75E1}"/>
              </a:ext>
            </a:extLst>
          </p:cNvPr>
          <p:cNvGrpSpPr/>
          <p:nvPr/>
        </p:nvGrpSpPr>
        <p:grpSpPr>
          <a:xfrm>
            <a:off x="7460751" y="159624"/>
            <a:ext cx="1337810" cy="1113763"/>
            <a:chOff x="2819400" y="3422522"/>
            <a:chExt cx="364235" cy="279177"/>
          </a:xfrm>
          <a:solidFill>
            <a:srgbClr val="0070C0"/>
          </a:solidFill>
        </p:grpSpPr>
        <p:sp>
          <p:nvSpPr>
            <p:cNvPr id="20" name="Google Shape;4613;p55">
              <a:extLst>
                <a:ext uri="{FF2B5EF4-FFF2-40B4-BE49-F238E27FC236}">
                  <a16:creationId xmlns:a16="http://schemas.microsoft.com/office/drawing/2014/main" id="{92C353C4-34FD-4A9C-8DB6-06683E713E6E}"/>
                </a:ext>
              </a:extLst>
            </p:cNvPr>
            <p:cNvSpPr/>
            <p:nvPr/>
          </p:nvSpPr>
          <p:spPr>
            <a:xfrm>
              <a:off x="2819400" y="3422522"/>
              <a:ext cx="327850" cy="279177"/>
            </a:xfrm>
            <a:custGeom>
              <a:avLst/>
              <a:gdLst/>
              <a:ahLst/>
              <a:cxnLst/>
              <a:rect l="l" t="t" r="r" b="b"/>
              <a:pathLst>
                <a:path w="327850" h="279177" extrusionOk="0">
                  <a:moveTo>
                    <a:pt x="30984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212598"/>
                  </a:lnTo>
                  <a:cubicBezTo>
                    <a:pt x="0" y="222409"/>
                    <a:pt x="8001" y="230505"/>
                    <a:pt x="17907" y="230505"/>
                  </a:cubicBezTo>
                  <a:lnTo>
                    <a:pt x="120968" y="230505"/>
                  </a:lnTo>
                  <a:lnTo>
                    <a:pt x="116300" y="267748"/>
                  </a:lnTo>
                  <a:lnTo>
                    <a:pt x="109157" y="267748"/>
                  </a:lnTo>
                  <a:cubicBezTo>
                    <a:pt x="106013" y="267748"/>
                    <a:pt x="103442" y="270319"/>
                    <a:pt x="103442" y="273463"/>
                  </a:cubicBezTo>
                  <a:cubicBezTo>
                    <a:pt x="103442" y="276606"/>
                    <a:pt x="106013" y="279178"/>
                    <a:pt x="109157" y="279178"/>
                  </a:cubicBezTo>
                  <a:lnTo>
                    <a:pt x="139541" y="279178"/>
                  </a:lnTo>
                  <a:cubicBezTo>
                    <a:pt x="142685" y="279178"/>
                    <a:pt x="145256" y="276606"/>
                    <a:pt x="145256" y="273463"/>
                  </a:cubicBezTo>
                  <a:cubicBezTo>
                    <a:pt x="145256" y="270319"/>
                    <a:pt x="142685" y="267748"/>
                    <a:pt x="139541" y="267748"/>
                  </a:cubicBezTo>
                  <a:lnTo>
                    <a:pt x="127730" y="267748"/>
                  </a:lnTo>
                  <a:lnTo>
                    <a:pt x="132398" y="230505"/>
                  </a:lnTo>
                  <a:lnTo>
                    <a:pt x="139541" y="230505"/>
                  </a:lnTo>
                  <a:cubicBezTo>
                    <a:pt x="142685" y="230505"/>
                    <a:pt x="145256" y="227933"/>
                    <a:pt x="145256" y="224790"/>
                  </a:cubicBezTo>
                  <a:cubicBezTo>
                    <a:pt x="145256" y="221647"/>
                    <a:pt x="142685" y="219075"/>
                    <a:pt x="139541" y="219075"/>
                  </a:cubicBezTo>
                  <a:lnTo>
                    <a:pt x="17907" y="219075"/>
                  </a:lnTo>
                  <a:cubicBezTo>
                    <a:pt x="14383" y="219075"/>
                    <a:pt x="11430" y="216217"/>
                    <a:pt x="11430" y="212598"/>
                  </a:cubicBezTo>
                  <a:lnTo>
                    <a:pt x="11430" y="193929"/>
                  </a:lnTo>
                  <a:lnTo>
                    <a:pt x="139541" y="193929"/>
                  </a:lnTo>
                  <a:cubicBezTo>
                    <a:pt x="142685" y="193929"/>
                    <a:pt x="145256" y="191357"/>
                    <a:pt x="145256" y="188214"/>
                  </a:cubicBezTo>
                  <a:cubicBezTo>
                    <a:pt x="145256" y="185071"/>
                    <a:pt x="142685" y="182499"/>
                    <a:pt x="139541" y="182499"/>
                  </a:cubicBezTo>
                  <a:lnTo>
                    <a:pt x="11430" y="182499"/>
                  </a:lnTo>
                  <a:lnTo>
                    <a:pt x="11430" y="17907"/>
                  </a:lnTo>
                  <a:cubicBezTo>
                    <a:pt x="11430" y="14383"/>
                    <a:pt x="14288" y="11430"/>
                    <a:pt x="17907" y="11430"/>
                  </a:cubicBezTo>
                  <a:lnTo>
                    <a:pt x="309944" y="11430"/>
                  </a:lnTo>
                  <a:cubicBezTo>
                    <a:pt x="313468" y="11430"/>
                    <a:pt x="316421" y="14288"/>
                    <a:pt x="316421" y="17907"/>
                  </a:cubicBezTo>
                  <a:lnTo>
                    <a:pt x="316421" y="139541"/>
                  </a:lnTo>
                  <a:cubicBezTo>
                    <a:pt x="316421" y="142685"/>
                    <a:pt x="318992" y="145256"/>
                    <a:pt x="322136" y="145256"/>
                  </a:cubicBezTo>
                  <a:cubicBezTo>
                    <a:pt x="325279" y="145256"/>
                    <a:pt x="327850" y="142685"/>
                    <a:pt x="327850" y="139541"/>
                  </a:cubicBezTo>
                  <a:lnTo>
                    <a:pt x="327850" y="17907"/>
                  </a:lnTo>
                  <a:cubicBezTo>
                    <a:pt x="327850" y="8096"/>
                    <a:pt x="319850" y="0"/>
                    <a:pt x="3099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614;p55">
              <a:extLst>
                <a:ext uri="{FF2B5EF4-FFF2-40B4-BE49-F238E27FC236}">
                  <a16:creationId xmlns:a16="http://schemas.microsoft.com/office/drawing/2014/main" id="{52C4F513-746A-4A6D-974F-F5BD692F40CF}"/>
                </a:ext>
              </a:extLst>
            </p:cNvPr>
            <p:cNvSpPr/>
            <p:nvPr/>
          </p:nvSpPr>
          <p:spPr>
            <a:xfrm>
              <a:off x="2977515" y="3532059"/>
              <a:ext cx="120967" cy="169640"/>
            </a:xfrm>
            <a:custGeom>
              <a:avLst/>
              <a:gdLst/>
              <a:ahLst/>
              <a:cxnLst/>
              <a:rect l="l" t="t" r="r" b="b"/>
              <a:pathLst>
                <a:path w="120967" h="169640" extrusionOk="0">
                  <a:moveTo>
                    <a:pt x="103061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51733"/>
                  </a:lnTo>
                  <a:cubicBezTo>
                    <a:pt x="0" y="161544"/>
                    <a:pt x="8001" y="169640"/>
                    <a:pt x="17907" y="169640"/>
                  </a:cubicBezTo>
                  <a:lnTo>
                    <a:pt x="103061" y="169640"/>
                  </a:lnTo>
                  <a:cubicBezTo>
                    <a:pt x="112871" y="169640"/>
                    <a:pt x="120967" y="161639"/>
                    <a:pt x="120967" y="151733"/>
                  </a:cubicBezTo>
                  <a:lnTo>
                    <a:pt x="120967" y="17907"/>
                  </a:lnTo>
                  <a:cubicBezTo>
                    <a:pt x="120967" y="8096"/>
                    <a:pt x="112966" y="0"/>
                    <a:pt x="103061" y="0"/>
                  </a:cubicBezTo>
                  <a:close/>
                  <a:moveTo>
                    <a:pt x="109538" y="151733"/>
                  </a:moveTo>
                  <a:cubicBezTo>
                    <a:pt x="109538" y="155258"/>
                    <a:pt x="106680" y="158210"/>
                    <a:pt x="103061" y="158210"/>
                  </a:cubicBezTo>
                  <a:lnTo>
                    <a:pt x="17907" y="158210"/>
                  </a:lnTo>
                  <a:cubicBezTo>
                    <a:pt x="14383" y="158210"/>
                    <a:pt x="11430" y="155353"/>
                    <a:pt x="11430" y="151733"/>
                  </a:cubicBezTo>
                  <a:lnTo>
                    <a:pt x="11430" y="145256"/>
                  </a:lnTo>
                  <a:lnTo>
                    <a:pt x="109538" y="145256"/>
                  </a:lnTo>
                  <a:lnTo>
                    <a:pt x="109538" y="151733"/>
                  </a:lnTo>
                  <a:lnTo>
                    <a:pt x="109538" y="151733"/>
                  </a:lnTo>
                  <a:close/>
                  <a:moveTo>
                    <a:pt x="109538" y="133826"/>
                  </a:moveTo>
                  <a:lnTo>
                    <a:pt x="11430" y="133826"/>
                  </a:lnTo>
                  <a:lnTo>
                    <a:pt x="11430" y="35719"/>
                  </a:lnTo>
                  <a:lnTo>
                    <a:pt x="109538" y="35719"/>
                  </a:lnTo>
                  <a:lnTo>
                    <a:pt x="109538" y="133826"/>
                  </a:lnTo>
                  <a:lnTo>
                    <a:pt x="109538" y="133826"/>
                  </a:lnTo>
                  <a:close/>
                  <a:moveTo>
                    <a:pt x="109538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103061" y="11335"/>
                  </a:lnTo>
                  <a:cubicBezTo>
                    <a:pt x="106585" y="11335"/>
                    <a:pt x="109538" y="14192"/>
                    <a:pt x="109538" y="17812"/>
                  </a:cubicBezTo>
                  <a:lnTo>
                    <a:pt x="109538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615;p55">
              <a:extLst>
                <a:ext uri="{FF2B5EF4-FFF2-40B4-BE49-F238E27FC236}">
                  <a16:creationId xmlns:a16="http://schemas.microsoft.com/office/drawing/2014/main" id="{D5830951-3597-4724-B716-405A3F25431B}"/>
                </a:ext>
              </a:extLst>
            </p:cNvPr>
            <p:cNvSpPr/>
            <p:nvPr/>
          </p:nvSpPr>
          <p:spPr>
            <a:xfrm>
              <a:off x="3111341" y="3580732"/>
              <a:ext cx="72294" cy="120967"/>
            </a:xfrm>
            <a:custGeom>
              <a:avLst/>
              <a:gdLst/>
              <a:ahLst/>
              <a:cxnLst/>
              <a:rect l="l" t="t" r="r" b="b"/>
              <a:pathLst>
                <a:path w="72294" h="120967" extrusionOk="0">
                  <a:moveTo>
                    <a:pt x="54388" y="0"/>
                  </a:moveTo>
                  <a:lnTo>
                    <a:pt x="17907" y="0"/>
                  </a:lnTo>
                  <a:cubicBezTo>
                    <a:pt x="8096" y="0"/>
                    <a:pt x="0" y="8001"/>
                    <a:pt x="0" y="17907"/>
                  </a:cubicBezTo>
                  <a:lnTo>
                    <a:pt x="0" y="103061"/>
                  </a:lnTo>
                  <a:cubicBezTo>
                    <a:pt x="0" y="112871"/>
                    <a:pt x="8001" y="120967"/>
                    <a:pt x="17907" y="120967"/>
                  </a:cubicBezTo>
                  <a:lnTo>
                    <a:pt x="54388" y="120967"/>
                  </a:lnTo>
                  <a:cubicBezTo>
                    <a:pt x="64198" y="120967"/>
                    <a:pt x="72295" y="112967"/>
                    <a:pt x="72295" y="103061"/>
                  </a:cubicBezTo>
                  <a:lnTo>
                    <a:pt x="72295" y="17907"/>
                  </a:lnTo>
                  <a:cubicBezTo>
                    <a:pt x="72295" y="8096"/>
                    <a:pt x="64294" y="0"/>
                    <a:pt x="54388" y="0"/>
                  </a:cubicBezTo>
                  <a:close/>
                  <a:moveTo>
                    <a:pt x="60865" y="103061"/>
                  </a:moveTo>
                  <a:cubicBezTo>
                    <a:pt x="60865" y="106585"/>
                    <a:pt x="58007" y="109538"/>
                    <a:pt x="54388" y="109538"/>
                  </a:cubicBezTo>
                  <a:lnTo>
                    <a:pt x="17907" y="109538"/>
                  </a:lnTo>
                  <a:cubicBezTo>
                    <a:pt x="14383" y="109538"/>
                    <a:pt x="11430" y="106680"/>
                    <a:pt x="11430" y="103061"/>
                  </a:cubicBezTo>
                  <a:lnTo>
                    <a:pt x="11430" y="96583"/>
                  </a:lnTo>
                  <a:lnTo>
                    <a:pt x="60865" y="96583"/>
                  </a:lnTo>
                  <a:lnTo>
                    <a:pt x="60865" y="103061"/>
                  </a:lnTo>
                  <a:lnTo>
                    <a:pt x="60865" y="103061"/>
                  </a:lnTo>
                  <a:close/>
                  <a:moveTo>
                    <a:pt x="60865" y="85154"/>
                  </a:moveTo>
                  <a:lnTo>
                    <a:pt x="11430" y="85154"/>
                  </a:lnTo>
                  <a:lnTo>
                    <a:pt x="11430" y="35719"/>
                  </a:lnTo>
                  <a:lnTo>
                    <a:pt x="60865" y="35719"/>
                  </a:lnTo>
                  <a:lnTo>
                    <a:pt x="60865" y="85154"/>
                  </a:lnTo>
                  <a:close/>
                  <a:moveTo>
                    <a:pt x="60865" y="24289"/>
                  </a:moveTo>
                  <a:lnTo>
                    <a:pt x="11430" y="24289"/>
                  </a:lnTo>
                  <a:lnTo>
                    <a:pt x="11430" y="17812"/>
                  </a:lnTo>
                  <a:cubicBezTo>
                    <a:pt x="11430" y="14288"/>
                    <a:pt x="14288" y="11335"/>
                    <a:pt x="17907" y="11335"/>
                  </a:cubicBezTo>
                  <a:lnTo>
                    <a:pt x="54388" y="11335"/>
                  </a:lnTo>
                  <a:cubicBezTo>
                    <a:pt x="57912" y="11335"/>
                    <a:pt x="60865" y="14192"/>
                    <a:pt x="60865" y="17812"/>
                  </a:cubicBezTo>
                  <a:lnTo>
                    <a:pt x="60865" y="24289"/>
                  </a:lnTo>
                  <a:lnTo>
                    <a:pt x="60865" y="24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0394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8EE28F87-BE11-460A-9CA4-B8F33F71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191;p29">
            <a:extLst>
              <a:ext uri="{FF2B5EF4-FFF2-40B4-BE49-F238E27FC236}">
                <a16:creationId xmlns:a16="http://schemas.microsoft.com/office/drawing/2014/main" id="{52844EFE-F29A-476F-BB41-A65F5B043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773" y="0"/>
            <a:ext cx="7032414" cy="704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0070C0"/>
                </a:solidFill>
                <a:latin typeface="Funnel Display" pitchFamily="2" charset="0"/>
              </a:rPr>
              <a:t>Conclusion &amp; Future Scope:</a:t>
            </a:r>
            <a:endParaRPr sz="1800" dirty="0">
              <a:solidFill>
                <a:srgbClr val="0070C0"/>
              </a:solidFill>
              <a:latin typeface="Funnel Display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FF54F-0382-4452-96CD-D8C04CD11C01}"/>
              </a:ext>
            </a:extLst>
          </p:cNvPr>
          <p:cNvSpPr txBox="1"/>
          <p:nvPr/>
        </p:nvSpPr>
        <p:spPr>
          <a:xfrm>
            <a:off x="230293" y="598373"/>
            <a:ext cx="297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Impact &amp; Future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C52C0-1E28-4B67-B1EA-31D5C02157B0}"/>
              </a:ext>
            </a:extLst>
          </p:cNvPr>
          <p:cNvSpPr txBox="1"/>
          <p:nvPr/>
        </p:nvSpPr>
        <p:spPr>
          <a:xfrm>
            <a:off x="230293" y="1056640"/>
            <a:ext cx="6719147" cy="374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Impact: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Eliminate “incomplete” applications reaching the credit desk.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Reduces turnaround time by digitizing document verification.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Future Scope: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OCR Integration: 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Automatically extract data from uploaded documents.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Cross Platform App: 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Full Fledged-App for both Android &amp; IOS devices.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Funnel Display" pitchFamily="2" charset="0"/>
              </a:rPr>
              <a:t>API Integration: </a:t>
            </a:r>
            <a:r>
              <a:rPr lang="en-IN" sz="1600" dirty="0">
                <a:solidFill>
                  <a:srgbClr val="0070C0"/>
                </a:solidFill>
                <a:latin typeface="Funnel Display" pitchFamily="2" charset="0"/>
              </a:rPr>
              <a:t>Auto fetch details of the applicant (Aadhar Card, PAN ,etc.) with permissions from the respective databases.</a:t>
            </a:r>
            <a:endParaRPr lang="en-IN" sz="1600" b="1" dirty="0">
              <a:solidFill>
                <a:srgbClr val="0070C0"/>
              </a:solidFill>
              <a:latin typeface="Funnel Display" pitchFamily="2" charset="0"/>
            </a:endParaRPr>
          </a:p>
        </p:txBody>
      </p:sp>
      <p:grpSp>
        <p:nvGrpSpPr>
          <p:cNvPr id="42" name="Google Shape;2903;p53">
            <a:extLst>
              <a:ext uri="{FF2B5EF4-FFF2-40B4-BE49-F238E27FC236}">
                <a16:creationId xmlns:a16="http://schemas.microsoft.com/office/drawing/2014/main" id="{93181713-3C3B-42EE-A4AB-836157A8422A}"/>
              </a:ext>
            </a:extLst>
          </p:cNvPr>
          <p:cNvGrpSpPr/>
          <p:nvPr/>
        </p:nvGrpSpPr>
        <p:grpSpPr>
          <a:xfrm>
            <a:off x="7895781" y="509324"/>
            <a:ext cx="830291" cy="841313"/>
            <a:chOff x="3979435" y="1976585"/>
            <a:chExt cx="345265" cy="349848"/>
          </a:xfrm>
          <a:solidFill>
            <a:srgbClr val="002060"/>
          </a:solidFill>
        </p:grpSpPr>
        <p:sp>
          <p:nvSpPr>
            <p:cNvPr id="43" name="Google Shape;2904;p53">
              <a:extLst>
                <a:ext uri="{FF2B5EF4-FFF2-40B4-BE49-F238E27FC236}">
                  <a16:creationId xmlns:a16="http://schemas.microsoft.com/office/drawing/2014/main" id="{FA9D99EF-13B3-4C3E-BF2F-E057B2E8DBA9}"/>
                </a:ext>
              </a:extLst>
            </p:cNvPr>
            <p:cNvSpPr/>
            <p:nvPr/>
          </p:nvSpPr>
          <p:spPr>
            <a:xfrm>
              <a:off x="3979435" y="1976585"/>
              <a:ext cx="345265" cy="349848"/>
            </a:xfrm>
            <a:custGeom>
              <a:avLst/>
              <a:gdLst/>
              <a:ahLst/>
              <a:cxnLst/>
              <a:rect l="l" t="t" r="r" b="b"/>
              <a:pathLst>
                <a:path w="10848" h="10992" extrusionOk="0">
                  <a:moveTo>
                    <a:pt x="6632" y="322"/>
                  </a:moveTo>
                  <a:cubicBezTo>
                    <a:pt x="6859" y="322"/>
                    <a:pt x="7013" y="501"/>
                    <a:pt x="7013" y="715"/>
                  </a:cubicBezTo>
                  <a:cubicBezTo>
                    <a:pt x="7013" y="929"/>
                    <a:pt x="6835" y="1096"/>
                    <a:pt x="6632" y="1096"/>
                  </a:cubicBezTo>
                  <a:lnTo>
                    <a:pt x="4906" y="1096"/>
                  </a:lnTo>
                  <a:cubicBezTo>
                    <a:pt x="4680" y="1096"/>
                    <a:pt x="4513" y="918"/>
                    <a:pt x="4513" y="715"/>
                  </a:cubicBezTo>
                  <a:cubicBezTo>
                    <a:pt x="4513" y="489"/>
                    <a:pt x="4692" y="322"/>
                    <a:pt x="4906" y="322"/>
                  </a:cubicBezTo>
                  <a:close/>
                  <a:moveTo>
                    <a:pt x="5966" y="1429"/>
                  </a:moveTo>
                  <a:lnTo>
                    <a:pt x="5966" y="1965"/>
                  </a:lnTo>
                  <a:lnTo>
                    <a:pt x="5561" y="1965"/>
                  </a:lnTo>
                  <a:lnTo>
                    <a:pt x="5561" y="1429"/>
                  </a:lnTo>
                  <a:close/>
                  <a:moveTo>
                    <a:pt x="5775" y="2289"/>
                  </a:moveTo>
                  <a:cubicBezTo>
                    <a:pt x="6988" y="2289"/>
                    <a:pt x="8193" y="2825"/>
                    <a:pt x="9026" y="3835"/>
                  </a:cubicBezTo>
                  <a:cubicBezTo>
                    <a:pt x="10466" y="5620"/>
                    <a:pt x="10204" y="8276"/>
                    <a:pt x="8407" y="9728"/>
                  </a:cubicBezTo>
                  <a:cubicBezTo>
                    <a:pt x="7623" y="10362"/>
                    <a:pt x="6686" y="10670"/>
                    <a:pt x="5757" y="10670"/>
                  </a:cubicBezTo>
                  <a:cubicBezTo>
                    <a:pt x="4540" y="10670"/>
                    <a:pt x="3337" y="10141"/>
                    <a:pt x="2513" y="9121"/>
                  </a:cubicBezTo>
                  <a:cubicBezTo>
                    <a:pt x="429" y="6561"/>
                    <a:pt x="2001" y="2715"/>
                    <a:pt x="5251" y="2322"/>
                  </a:cubicBezTo>
                  <a:cubicBezTo>
                    <a:pt x="5425" y="2300"/>
                    <a:pt x="5601" y="2289"/>
                    <a:pt x="5775" y="2289"/>
                  </a:cubicBezTo>
                  <a:close/>
                  <a:moveTo>
                    <a:pt x="4906" y="1"/>
                  </a:moveTo>
                  <a:cubicBezTo>
                    <a:pt x="4501" y="1"/>
                    <a:pt x="4192" y="322"/>
                    <a:pt x="4192" y="715"/>
                  </a:cubicBezTo>
                  <a:cubicBezTo>
                    <a:pt x="4192" y="1108"/>
                    <a:pt x="4513" y="1429"/>
                    <a:pt x="4906" y="1429"/>
                  </a:cubicBezTo>
                  <a:lnTo>
                    <a:pt x="5239" y="1429"/>
                  </a:lnTo>
                  <a:lnTo>
                    <a:pt x="5239" y="1989"/>
                  </a:lnTo>
                  <a:cubicBezTo>
                    <a:pt x="1727" y="2394"/>
                    <a:pt x="1" y="6561"/>
                    <a:pt x="2263" y="9323"/>
                  </a:cubicBezTo>
                  <a:cubicBezTo>
                    <a:pt x="3160" y="10423"/>
                    <a:pt x="4463" y="10991"/>
                    <a:pt x="5774" y="10991"/>
                  </a:cubicBezTo>
                  <a:cubicBezTo>
                    <a:pt x="6777" y="10991"/>
                    <a:pt x="7785" y="10659"/>
                    <a:pt x="8621" y="9978"/>
                  </a:cubicBezTo>
                  <a:cubicBezTo>
                    <a:pt x="10550" y="8407"/>
                    <a:pt x="10847" y="5549"/>
                    <a:pt x="9264" y="3632"/>
                  </a:cubicBezTo>
                  <a:cubicBezTo>
                    <a:pt x="8490" y="2680"/>
                    <a:pt x="7406" y="2120"/>
                    <a:pt x="6287" y="1989"/>
                  </a:cubicBezTo>
                  <a:lnTo>
                    <a:pt x="6287" y="1429"/>
                  </a:lnTo>
                  <a:lnTo>
                    <a:pt x="6632" y="1429"/>
                  </a:lnTo>
                  <a:cubicBezTo>
                    <a:pt x="7037" y="1429"/>
                    <a:pt x="7347" y="1096"/>
                    <a:pt x="7347" y="715"/>
                  </a:cubicBezTo>
                  <a:cubicBezTo>
                    <a:pt x="7347" y="310"/>
                    <a:pt x="7013" y="1"/>
                    <a:pt x="6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44" name="Google Shape;2905;p53">
              <a:extLst>
                <a:ext uri="{FF2B5EF4-FFF2-40B4-BE49-F238E27FC236}">
                  <a16:creationId xmlns:a16="http://schemas.microsoft.com/office/drawing/2014/main" id="{8A7D310C-E647-4FA5-8977-94546C6D34C8}"/>
                </a:ext>
              </a:extLst>
            </p:cNvPr>
            <p:cNvSpPr/>
            <p:nvPr/>
          </p:nvSpPr>
          <p:spPr>
            <a:xfrm>
              <a:off x="4044236" y="2176685"/>
              <a:ext cx="144783" cy="123077"/>
            </a:xfrm>
            <a:custGeom>
              <a:avLst/>
              <a:gdLst/>
              <a:ahLst/>
              <a:cxnLst/>
              <a:rect l="l" t="t" r="r" b="b"/>
              <a:pathLst>
                <a:path w="4549" h="3867" extrusionOk="0">
                  <a:moveTo>
                    <a:pt x="203" y="0"/>
                  </a:moveTo>
                  <a:cubicBezTo>
                    <a:pt x="108" y="0"/>
                    <a:pt x="36" y="84"/>
                    <a:pt x="36" y="167"/>
                  </a:cubicBezTo>
                  <a:cubicBezTo>
                    <a:pt x="36" y="215"/>
                    <a:pt x="1" y="977"/>
                    <a:pt x="405" y="1822"/>
                  </a:cubicBezTo>
                  <a:cubicBezTo>
                    <a:pt x="667" y="2346"/>
                    <a:pt x="1048" y="2798"/>
                    <a:pt x="1525" y="3143"/>
                  </a:cubicBezTo>
                  <a:cubicBezTo>
                    <a:pt x="2186" y="3633"/>
                    <a:pt x="2944" y="3867"/>
                    <a:pt x="3694" y="3867"/>
                  </a:cubicBezTo>
                  <a:cubicBezTo>
                    <a:pt x="3929" y="3867"/>
                    <a:pt x="4164" y="3844"/>
                    <a:pt x="4394" y="3798"/>
                  </a:cubicBezTo>
                  <a:cubicBezTo>
                    <a:pt x="4489" y="3786"/>
                    <a:pt x="4549" y="3691"/>
                    <a:pt x="4537" y="3608"/>
                  </a:cubicBezTo>
                  <a:cubicBezTo>
                    <a:pt x="4526" y="3543"/>
                    <a:pt x="4446" y="3487"/>
                    <a:pt x="4368" y="3487"/>
                  </a:cubicBezTo>
                  <a:cubicBezTo>
                    <a:pt x="4361" y="3487"/>
                    <a:pt x="4354" y="3488"/>
                    <a:pt x="4346" y="3489"/>
                  </a:cubicBezTo>
                  <a:cubicBezTo>
                    <a:pt x="4139" y="3526"/>
                    <a:pt x="3932" y="3545"/>
                    <a:pt x="3725" y="3545"/>
                  </a:cubicBezTo>
                  <a:cubicBezTo>
                    <a:pt x="3018" y="3545"/>
                    <a:pt x="2326" y="3324"/>
                    <a:pt x="1727" y="2882"/>
                  </a:cubicBezTo>
                  <a:cubicBezTo>
                    <a:pt x="275" y="1810"/>
                    <a:pt x="370" y="167"/>
                    <a:pt x="370" y="167"/>
                  </a:cubicBezTo>
                  <a:cubicBezTo>
                    <a:pt x="370" y="84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45" name="Google Shape;2906;p53">
              <a:extLst>
                <a:ext uri="{FF2B5EF4-FFF2-40B4-BE49-F238E27FC236}">
                  <a16:creationId xmlns:a16="http://schemas.microsoft.com/office/drawing/2014/main" id="{3207E895-0633-46BA-AACE-503FA20B1F9E}"/>
                </a:ext>
              </a:extLst>
            </p:cNvPr>
            <p:cNvSpPr/>
            <p:nvPr/>
          </p:nvSpPr>
          <p:spPr>
            <a:xfrm>
              <a:off x="4046910" y="2065957"/>
              <a:ext cx="204269" cy="100893"/>
            </a:xfrm>
            <a:custGeom>
              <a:avLst/>
              <a:gdLst/>
              <a:ahLst/>
              <a:cxnLst/>
              <a:rect l="l" t="t" r="r" b="b"/>
              <a:pathLst>
                <a:path w="6418" h="3170" extrusionOk="0">
                  <a:moveTo>
                    <a:pt x="3655" y="1"/>
                  </a:moveTo>
                  <a:cubicBezTo>
                    <a:pt x="1971" y="1"/>
                    <a:pt x="367" y="1170"/>
                    <a:pt x="12" y="3003"/>
                  </a:cubicBezTo>
                  <a:cubicBezTo>
                    <a:pt x="0" y="3086"/>
                    <a:pt x="71" y="3170"/>
                    <a:pt x="179" y="3170"/>
                  </a:cubicBezTo>
                  <a:cubicBezTo>
                    <a:pt x="250" y="3170"/>
                    <a:pt x="333" y="3110"/>
                    <a:pt x="345" y="3039"/>
                  </a:cubicBezTo>
                  <a:cubicBezTo>
                    <a:pt x="667" y="1358"/>
                    <a:pt x="2122" y="299"/>
                    <a:pt x="3652" y="299"/>
                  </a:cubicBezTo>
                  <a:cubicBezTo>
                    <a:pt x="4332" y="299"/>
                    <a:pt x="5027" y="509"/>
                    <a:pt x="5644" y="967"/>
                  </a:cubicBezTo>
                  <a:cubicBezTo>
                    <a:pt x="5822" y="1098"/>
                    <a:pt x="5965" y="1241"/>
                    <a:pt x="6120" y="1396"/>
                  </a:cubicBezTo>
                  <a:cubicBezTo>
                    <a:pt x="6155" y="1431"/>
                    <a:pt x="6208" y="1454"/>
                    <a:pt x="6257" y="1454"/>
                  </a:cubicBezTo>
                  <a:cubicBezTo>
                    <a:pt x="6290" y="1454"/>
                    <a:pt x="6322" y="1443"/>
                    <a:pt x="6346" y="1419"/>
                  </a:cubicBezTo>
                  <a:cubicBezTo>
                    <a:pt x="6406" y="1360"/>
                    <a:pt x="6417" y="1253"/>
                    <a:pt x="6358" y="1193"/>
                  </a:cubicBezTo>
                  <a:cubicBezTo>
                    <a:pt x="6191" y="1027"/>
                    <a:pt x="6025" y="860"/>
                    <a:pt x="5834" y="729"/>
                  </a:cubicBezTo>
                  <a:cubicBezTo>
                    <a:pt x="5159" y="229"/>
                    <a:pt x="4399" y="1"/>
                    <a:pt x="36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46" name="Google Shape;2907;p53">
              <a:extLst>
                <a:ext uri="{FF2B5EF4-FFF2-40B4-BE49-F238E27FC236}">
                  <a16:creationId xmlns:a16="http://schemas.microsoft.com/office/drawing/2014/main" id="{CECD857F-A1A7-4C22-98B8-72D57F03AAB6}"/>
                </a:ext>
              </a:extLst>
            </p:cNvPr>
            <p:cNvSpPr/>
            <p:nvPr/>
          </p:nvSpPr>
          <p:spPr>
            <a:xfrm>
              <a:off x="4195735" y="2118027"/>
              <a:ext cx="84247" cy="174224"/>
            </a:xfrm>
            <a:custGeom>
              <a:avLst/>
              <a:gdLst/>
              <a:ahLst/>
              <a:cxnLst/>
              <a:rect l="l" t="t" r="r" b="b"/>
              <a:pathLst>
                <a:path w="2647" h="5474" extrusionOk="0">
                  <a:moveTo>
                    <a:pt x="1952" y="0"/>
                  </a:moveTo>
                  <a:cubicBezTo>
                    <a:pt x="1920" y="0"/>
                    <a:pt x="1888" y="11"/>
                    <a:pt x="1861" y="33"/>
                  </a:cubicBezTo>
                  <a:cubicBezTo>
                    <a:pt x="1789" y="81"/>
                    <a:pt x="1753" y="176"/>
                    <a:pt x="1813" y="260"/>
                  </a:cubicBezTo>
                  <a:cubicBezTo>
                    <a:pt x="2158" y="795"/>
                    <a:pt x="2325" y="1403"/>
                    <a:pt x="2325" y="2046"/>
                  </a:cubicBezTo>
                  <a:cubicBezTo>
                    <a:pt x="2325" y="3451"/>
                    <a:pt x="1432" y="4689"/>
                    <a:pt x="182" y="5165"/>
                  </a:cubicBezTo>
                  <a:cubicBezTo>
                    <a:pt x="1" y="5229"/>
                    <a:pt x="67" y="5474"/>
                    <a:pt x="237" y="5474"/>
                  </a:cubicBezTo>
                  <a:cubicBezTo>
                    <a:pt x="257" y="5474"/>
                    <a:pt x="278" y="5470"/>
                    <a:pt x="301" y="5463"/>
                  </a:cubicBezTo>
                  <a:cubicBezTo>
                    <a:pt x="1682" y="4927"/>
                    <a:pt x="2646" y="3593"/>
                    <a:pt x="2646" y="2022"/>
                  </a:cubicBezTo>
                  <a:cubicBezTo>
                    <a:pt x="2646" y="1343"/>
                    <a:pt x="2456" y="653"/>
                    <a:pt x="2087" y="81"/>
                  </a:cubicBezTo>
                  <a:cubicBezTo>
                    <a:pt x="2057" y="29"/>
                    <a:pt x="2004" y="0"/>
                    <a:pt x="19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47" name="Google Shape;2908;p53">
              <a:extLst>
                <a:ext uri="{FF2B5EF4-FFF2-40B4-BE49-F238E27FC236}">
                  <a16:creationId xmlns:a16="http://schemas.microsoft.com/office/drawing/2014/main" id="{C5516520-6637-42DF-B317-517C64486B0B}"/>
                </a:ext>
              </a:extLst>
            </p:cNvPr>
            <p:cNvSpPr/>
            <p:nvPr/>
          </p:nvSpPr>
          <p:spPr>
            <a:xfrm>
              <a:off x="4109037" y="2161153"/>
              <a:ext cx="81510" cy="55348"/>
            </a:xfrm>
            <a:custGeom>
              <a:avLst/>
              <a:gdLst/>
              <a:ahLst/>
              <a:cxnLst/>
              <a:rect l="l" t="t" r="r" b="b"/>
              <a:pathLst>
                <a:path w="2561" h="1739" extrusionOk="0">
                  <a:moveTo>
                    <a:pt x="1691" y="333"/>
                  </a:moveTo>
                  <a:cubicBezTo>
                    <a:pt x="1965" y="333"/>
                    <a:pt x="2144" y="655"/>
                    <a:pt x="1965" y="881"/>
                  </a:cubicBezTo>
                  <a:cubicBezTo>
                    <a:pt x="1900" y="968"/>
                    <a:pt x="1790" y="1020"/>
                    <a:pt x="1682" y="1020"/>
                  </a:cubicBezTo>
                  <a:cubicBezTo>
                    <a:pt x="1613" y="1020"/>
                    <a:pt x="1545" y="999"/>
                    <a:pt x="1489" y="953"/>
                  </a:cubicBezTo>
                  <a:cubicBezTo>
                    <a:pt x="1215" y="762"/>
                    <a:pt x="1370" y="333"/>
                    <a:pt x="1691" y="333"/>
                  </a:cubicBezTo>
                  <a:close/>
                  <a:moveTo>
                    <a:pt x="1691" y="0"/>
                  </a:moveTo>
                  <a:cubicBezTo>
                    <a:pt x="1584" y="0"/>
                    <a:pt x="1334" y="36"/>
                    <a:pt x="1156" y="274"/>
                  </a:cubicBezTo>
                  <a:cubicBezTo>
                    <a:pt x="1025" y="453"/>
                    <a:pt x="989" y="655"/>
                    <a:pt x="1048" y="845"/>
                  </a:cubicBezTo>
                  <a:lnTo>
                    <a:pt x="132" y="1441"/>
                  </a:lnTo>
                  <a:cubicBezTo>
                    <a:pt x="1" y="1536"/>
                    <a:pt x="60" y="1738"/>
                    <a:pt x="215" y="1738"/>
                  </a:cubicBezTo>
                  <a:cubicBezTo>
                    <a:pt x="310" y="1738"/>
                    <a:pt x="263" y="1726"/>
                    <a:pt x="1215" y="1131"/>
                  </a:cubicBezTo>
                  <a:cubicBezTo>
                    <a:pt x="1347" y="1275"/>
                    <a:pt x="1521" y="1344"/>
                    <a:pt x="1693" y="1344"/>
                  </a:cubicBezTo>
                  <a:cubicBezTo>
                    <a:pt x="1893" y="1344"/>
                    <a:pt x="2093" y="1251"/>
                    <a:pt x="2227" y="1072"/>
                  </a:cubicBezTo>
                  <a:cubicBezTo>
                    <a:pt x="2560" y="631"/>
                    <a:pt x="2251" y="0"/>
                    <a:pt x="1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48" name="Google Shape;2909;p53">
              <a:extLst>
                <a:ext uri="{FF2B5EF4-FFF2-40B4-BE49-F238E27FC236}">
                  <a16:creationId xmlns:a16="http://schemas.microsoft.com/office/drawing/2014/main" id="{BD658997-913C-4B69-8449-B19A33E5630F}"/>
                </a:ext>
              </a:extLst>
            </p:cNvPr>
            <p:cNvSpPr/>
            <p:nvPr/>
          </p:nvSpPr>
          <p:spPr>
            <a:xfrm>
              <a:off x="4157160" y="2083080"/>
              <a:ext cx="10662" cy="29218"/>
            </a:xfrm>
            <a:custGeom>
              <a:avLst/>
              <a:gdLst/>
              <a:ahLst/>
              <a:cxnLst/>
              <a:rect l="l" t="t" r="r" b="b"/>
              <a:pathLst>
                <a:path w="335" h="918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62"/>
                  </a:lnTo>
                  <a:cubicBezTo>
                    <a:pt x="1" y="846"/>
                    <a:pt x="72" y="917"/>
                    <a:pt x="167" y="917"/>
                  </a:cubicBezTo>
                  <a:cubicBezTo>
                    <a:pt x="275" y="917"/>
                    <a:pt x="334" y="846"/>
                    <a:pt x="334" y="762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49" name="Google Shape;2910;p53">
              <a:extLst>
                <a:ext uri="{FF2B5EF4-FFF2-40B4-BE49-F238E27FC236}">
                  <a16:creationId xmlns:a16="http://schemas.microsoft.com/office/drawing/2014/main" id="{7AAAEA13-383B-4DFB-B124-687174FA19A8}"/>
                </a:ext>
              </a:extLst>
            </p:cNvPr>
            <p:cNvSpPr/>
            <p:nvPr/>
          </p:nvSpPr>
          <p:spPr>
            <a:xfrm>
              <a:off x="4109419" y="2096034"/>
              <a:ext cx="21261" cy="26862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183" y="0"/>
                  </a:moveTo>
                  <a:cubicBezTo>
                    <a:pt x="156" y="0"/>
                    <a:pt x="130" y="7"/>
                    <a:pt x="108" y="22"/>
                  </a:cubicBezTo>
                  <a:cubicBezTo>
                    <a:pt x="36" y="70"/>
                    <a:pt x="1" y="177"/>
                    <a:pt x="48" y="248"/>
                  </a:cubicBezTo>
                  <a:lnTo>
                    <a:pt x="346" y="772"/>
                  </a:lnTo>
                  <a:cubicBezTo>
                    <a:pt x="393" y="808"/>
                    <a:pt x="429" y="844"/>
                    <a:pt x="489" y="844"/>
                  </a:cubicBezTo>
                  <a:cubicBezTo>
                    <a:pt x="524" y="844"/>
                    <a:pt x="548" y="844"/>
                    <a:pt x="572" y="832"/>
                  </a:cubicBezTo>
                  <a:cubicBezTo>
                    <a:pt x="643" y="784"/>
                    <a:pt x="667" y="677"/>
                    <a:pt x="632" y="605"/>
                  </a:cubicBezTo>
                  <a:lnTo>
                    <a:pt x="334" y="82"/>
                  </a:lnTo>
                  <a:cubicBezTo>
                    <a:pt x="301" y="33"/>
                    <a:pt x="241" y="0"/>
                    <a:pt x="1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0" name="Google Shape;2911;p53">
              <a:extLst>
                <a:ext uri="{FF2B5EF4-FFF2-40B4-BE49-F238E27FC236}">
                  <a16:creationId xmlns:a16="http://schemas.microsoft.com/office/drawing/2014/main" id="{65180227-742A-4861-91C9-FCD7075B3546}"/>
                </a:ext>
              </a:extLst>
            </p:cNvPr>
            <p:cNvSpPr/>
            <p:nvPr/>
          </p:nvSpPr>
          <p:spPr>
            <a:xfrm>
              <a:off x="4074950" y="2130121"/>
              <a:ext cx="28454" cy="19669"/>
            </a:xfrm>
            <a:custGeom>
              <a:avLst/>
              <a:gdLst/>
              <a:ahLst/>
              <a:cxnLst/>
              <a:rect l="l" t="t" r="r" b="b"/>
              <a:pathLst>
                <a:path w="894" h="618" extrusionOk="0">
                  <a:moveTo>
                    <a:pt x="188" y="1"/>
                  </a:moveTo>
                  <a:cubicBezTo>
                    <a:pt x="130" y="1"/>
                    <a:pt x="72" y="33"/>
                    <a:pt x="48" y="82"/>
                  </a:cubicBezTo>
                  <a:cubicBezTo>
                    <a:pt x="0" y="154"/>
                    <a:pt x="24" y="261"/>
                    <a:pt x="107" y="308"/>
                  </a:cubicBezTo>
                  <a:lnTo>
                    <a:pt x="619" y="606"/>
                  </a:lnTo>
                  <a:cubicBezTo>
                    <a:pt x="655" y="618"/>
                    <a:pt x="679" y="618"/>
                    <a:pt x="703" y="618"/>
                  </a:cubicBezTo>
                  <a:cubicBezTo>
                    <a:pt x="762" y="618"/>
                    <a:pt x="798" y="594"/>
                    <a:pt x="834" y="546"/>
                  </a:cubicBezTo>
                  <a:cubicBezTo>
                    <a:pt x="893" y="475"/>
                    <a:pt x="881" y="368"/>
                    <a:pt x="786" y="320"/>
                  </a:cubicBezTo>
                  <a:lnTo>
                    <a:pt x="262" y="23"/>
                  </a:lnTo>
                  <a:cubicBezTo>
                    <a:pt x="240" y="8"/>
                    <a:pt x="214" y="1"/>
                    <a:pt x="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1" name="Google Shape;2912;p53">
              <a:extLst>
                <a:ext uri="{FF2B5EF4-FFF2-40B4-BE49-F238E27FC236}">
                  <a16:creationId xmlns:a16="http://schemas.microsoft.com/office/drawing/2014/main" id="{FC7B542E-0591-462E-A09E-202908A3A05C}"/>
                </a:ext>
              </a:extLst>
            </p:cNvPr>
            <p:cNvSpPr/>
            <p:nvPr/>
          </p:nvSpPr>
          <p:spPr>
            <a:xfrm>
              <a:off x="4063555" y="2177067"/>
              <a:ext cx="29218" cy="10630"/>
            </a:xfrm>
            <a:custGeom>
              <a:avLst/>
              <a:gdLst/>
              <a:ahLst/>
              <a:cxnLst/>
              <a:rect l="l" t="t" r="r" b="b"/>
              <a:pathLst>
                <a:path w="918" h="334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763" y="334"/>
                  </a:lnTo>
                  <a:cubicBezTo>
                    <a:pt x="846" y="334"/>
                    <a:pt x="918" y="262"/>
                    <a:pt x="918" y="167"/>
                  </a:cubicBezTo>
                  <a:cubicBezTo>
                    <a:pt x="918" y="83"/>
                    <a:pt x="846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2" name="Google Shape;2913;p53">
              <a:extLst>
                <a:ext uri="{FF2B5EF4-FFF2-40B4-BE49-F238E27FC236}">
                  <a16:creationId xmlns:a16="http://schemas.microsoft.com/office/drawing/2014/main" id="{40A64CF8-9C0F-4339-9159-FF3B70698BE8}"/>
                </a:ext>
              </a:extLst>
            </p:cNvPr>
            <p:cNvSpPr/>
            <p:nvPr/>
          </p:nvSpPr>
          <p:spPr>
            <a:xfrm>
              <a:off x="4073804" y="2215005"/>
              <a:ext cx="29600" cy="20051"/>
            </a:xfrm>
            <a:custGeom>
              <a:avLst/>
              <a:gdLst/>
              <a:ahLst/>
              <a:cxnLst/>
              <a:rect l="l" t="t" r="r" b="b"/>
              <a:pathLst>
                <a:path w="930" h="630" extrusionOk="0">
                  <a:moveTo>
                    <a:pt x="735" y="1"/>
                  </a:moveTo>
                  <a:cubicBezTo>
                    <a:pt x="709" y="1"/>
                    <a:pt x="681" y="8"/>
                    <a:pt x="655" y="23"/>
                  </a:cubicBezTo>
                  <a:lnTo>
                    <a:pt x="143" y="320"/>
                  </a:lnTo>
                  <a:cubicBezTo>
                    <a:pt x="0" y="404"/>
                    <a:pt x="60" y="630"/>
                    <a:pt x="227" y="630"/>
                  </a:cubicBezTo>
                  <a:cubicBezTo>
                    <a:pt x="298" y="630"/>
                    <a:pt x="298" y="606"/>
                    <a:pt x="822" y="308"/>
                  </a:cubicBezTo>
                  <a:cubicBezTo>
                    <a:pt x="893" y="261"/>
                    <a:pt x="929" y="154"/>
                    <a:pt x="881" y="82"/>
                  </a:cubicBezTo>
                  <a:cubicBezTo>
                    <a:pt x="849" y="33"/>
                    <a:pt x="794" y="1"/>
                    <a:pt x="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3" name="Google Shape;2914;p53">
              <a:extLst>
                <a:ext uri="{FF2B5EF4-FFF2-40B4-BE49-F238E27FC236}">
                  <a16:creationId xmlns:a16="http://schemas.microsoft.com/office/drawing/2014/main" id="{6003F92D-D33D-4EB2-A317-568BBB0A198C}"/>
                </a:ext>
              </a:extLst>
            </p:cNvPr>
            <p:cNvSpPr/>
            <p:nvPr/>
          </p:nvSpPr>
          <p:spPr>
            <a:xfrm>
              <a:off x="4109419" y="2242472"/>
              <a:ext cx="21261" cy="26703"/>
            </a:xfrm>
            <a:custGeom>
              <a:avLst/>
              <a:gdLst/>
              <a:ahLst/>
              <a:cxnLst/>
              <a:rect l="l" t="t" r="r" b="b"/>
              <a:pathLst>
                <a:path w="668" h="839" extrusionOk="0">
                  <a:moveTo>
                    <a:pt x="496" y="0"/>
                  </a:moveTo>
                  <a:cubicBezTo>
                    <a:pt x="441" y="0"/>
                    <a:pt x="391" y="27"/>
                    <a:pt x="358" y="76"/>
                  </a:cubicBezTo>
                  <a:lnTo>
                    <a:pt x="60" y="600"/>
                  </a:lnTo>
                  <a:cubicBezTo>
                    <a:pt x="1" y="707"/>
                    <a:pt x="72" y="838"/>
                    <a:pt x="191" y="838"/>
                  </a:cubicBezTo>
                  <a:cubicBezTo>
                    <a:pt x="251" y="838"/>
                    <a:pt x="298" y="815"/>
                    <a:pt x="334" y="767"/>
                  </a:cubicBezTo>
                  <a:lnTo>
                    <a:pt x="632" y="243"/>
                  </a:lnTo>
                  <a:cubicBezTo>
                    <a:pt x="667" y="172"/>
                    <a:pt x="643" y="64"/>
                    <a:pt x="572" y="17"/>
                  </a:cubicBezTo>
                  <a:cubicBezTo>
                    <a:pt x="546" y="6"/>
                    <a:pt x="520" y="0"/>
                    <a:pt x="4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4" name="Google Shape;2915;p53">
              <a:extLst>
                <a:ext uri="{FF2B5EF4-FFF2-40B4-BE49-F238E27FC236}">
                  <a16:creationId xmlns:a16="http://schemas.microsoft.com/office/drawing/2014/main" id="{824CDCAA-156F-415F-93D6-B10CF0C5798E}"/>
                </a:ext>
              </a:extLst>
            </p:cNvPr>
            <p:cNvSpPr/>
            <p:nvPr/>
          </p:nvSpPr>
          <p:spPr>
            <a:xfrm>
              <a:off x="4157924" y="2252466"/>
              <a:ext cx="10248" cy="29600"/>
            </a:xfrm>
            <a:custGeom>
              <a:avLst/>
              <a:gdLst/>
              <a:ahLst/>
              <a:cxnLst/>
              <a:rect l="l" t="t" r="r" b="b"/>
              <a:pathLst>
                <a:path w="322" h="930" extrusionOk="0">
                  <a:moveTo>
                    <a:pt x="155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762"/>
                  </a:lnTo>
                  <a:cubicBezTo>
                    <a:pt x="1" y="858"/>
                    <a:pt x="72" y="929"/>
                    <a:pt x="155" y="929"/>
                  </a:cubicBezTo>
                  <a:cubicBezTo>
                    <a:pt x="251" y="929"/>
                    <a:pt x="322" y="858"/>
                    <a:pt x="322" y="762"/>
                  </a:cubicBezTo>
                  <a:lnTo>
                    <a:pt x="322" y="167"/>
                  </a:lnTo>
                  <a:cubicBezTo>
                    <a:pt x="322" y="84"/>
                    <a:pt x="251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5" name="Google Shape;2916;p53">
              <a:extLst>
                <a:ext uri="{FF2B5EF4-FFF2-40B4-BE49-F238E27FC236}">
                  <a16:creationId xmlns:a16="http://schemas.microsoft.com/office/drawing/2014/main" id="{EB4C8D35-1239-4CBB-AD3F-F58DFE2F2EDC}"/>
                </a:ext>
              </a:extLst>
            </p:cNvPr>
            <p:cNvSpPr/>
            <p:nvPr/>
          </p:nvSpPr>
          <p:spPr>
            <a:xfrm>
              <a:off x="4194685" y="2242472"/>
              <a:ext cx="21261" cy="27022"/>
            </a:xfrm>
            <a:custGeom>
              <a:avLst/>
              <a:gdLst/>
              <a:ahLst/>
              <a:cxnLst/>
              <a:rect l="l" t="t" r="r" b="b"/>
              <a:pathLst>
                <a:path w="668" h="849" extrusionOk="0">
                  <a:moveTo>
                    <a:pt x="181" y="0"/>
                  </a:moveTo>
                  <a:cubicBezTo>
                    <a:pt x="155" y="0"/>
                    <a:pt x="130" y="6"/>
                    <a:pt x="108" y="17"/>
                  </a:cubicBezTo>
                  <a:cubicBezTo>
                    <a:pt x="36" y="64"/>
                    <a:pt x="0" y="172"/>
                    <a:pt x="48" y="243"/>
                  </a:cubicBezTo>
                  <a:lnTo>
                    <a:pt x="346" y="767"/>
                  </a:lnTo>
                  <a:cubicBezTo>
                    <a:pt x="378" y="816"/>
                    <a:pt x="428" y="848"/>
                    <a:pt x="487" y="848"/>
                  </a:cubicBezTo>
                  <a:cubicBezTo>
                    <a:pt x="513" y="848"/>
                    <a:pt x="542" y="841"/>
                    <a:pt x="572" y="826"/>
                  </a:cubicBezTo>
                  <a:cubicBezTo>
                    <a:pt x="643" y="779"/>
                    <a:pt x="667" y="672"/>
                    <a:pt x="631" y="600"/>
                  </a:cubicBezTo>
                  <a:lnTo>
                    <a:pt x="334" y="76"/>
                  </a:lnTo>
                  <a:cubicBezTo>
                    <a:pt x="301" y="27"/>
                    <a:pt x="240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6" name="Google Shape;2917;p53">
              <a:extLst>
                <a:ext uri="{FF2B5EF4-FFF2-40B4-BE49-F238E27FC236}">
                  <a16:creationId xmlns:a16="http://schemas.microsoft.com/office/drawing/2014/main" id="{2F953954-783C-4598-B1DA-01F67D46EB76}"/>
                </a:ext>
              </a:extLst>
            </p:cNvPr>
            <p:cNvSpPr/>
            <p:nvPr/>
          </p:nvSpPr>
          <p:spPr>
            <a:xfrm>
              <a:off x="4222343" y="2215387"/>
              <a:ext cx="27690" cy="19669"/>
            </a:xfrm>
            <a:custGeom>
              <a:avLst/>
              <a:gdLst/>
              <a:ahLst/>
              <a:cxnLst/>
              <a:rect l="l" t="t" r="r" b="b"/>
              <a:pathLst>
                <a:path w="870" h="618" extrusionOk="0">
                  <a:moveTo>
                    <a:pt x="176" y="1"/>
                  </a:moveTo>
                  <a:cubicBezTo>
                    <a:pt x="118" y="1"/>
                    <a:pt x="57" y="33"/>
                    <a:pt x="24" y="82"/>
                  </a:cubicBezTo>
                  <a:cubicBezTo>
                    <a:pt x="1" y="142"/>
                    <a:pt x="13" y="249"/>
                    <a:pt x="96" y="296"/>
                  </a:cubicBezTo>
                  <a:cubicBezTo>
                    <a:pt x="632" y="594"/>
                    <a:pt x="620" y="618"/>
                    <a:pt x="691" y="618"/>
                  </a:cubicBezTo>
                  <a:cubicBezTo>
                    <a:pt x="751" y="618"/>
                    <a:pt x="798" y="594"/>
                    <a:pt x="834" y="546"/>
                  </a:cubicBezTo>
                  <a:cubicBezTo>
                    <a:pt x="870" y="475"/>
                    <a:pt x="846" y="368"/>
                    <a:pt x="775" y="320"/>
                  </a:cubicBezTo>
                  <a:lnTo>
                    <a:pt x="251" y="22"/>
                  </a:lnTo>
                  <a:cubicBezTo>
                    <a:pt x="228" y="8"/>
                    <a:pt x="202" y="1"/>
                    <a:pt x="1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7" name="Google Shape;2918;p53">
              <a:extLst>
                <a:ext uri="{FF2B5EF4-FFF2-40B4-BE49-F238E27FC236}">
                  <a16:creationId xmlns:a16="http://schemas.microsoft.com/office/drawing/2014/main" id="{DF800CD6-BBDB-4F1A-A375-5FC4F18340EC}"/>
                </a:ext>
              </a:extLst>
            </p:cNvPr>
            <p:cNvSpPr/>
            <p:nvPr/>
          </p:nvSpPr>
          <p:spPr>
            <a:xfrm>
              <a:off x="4232941" y="2177067"/>
              <a:ext cx="29600" cy="10630"/>
            </a:xfrm>
            <a:custGeom>
              <a:avLst/>
              <a:gdLst/>
              <a:ahLst/>
              <a:cxnLst/>
              <a:rect l="l" t="t" r="r" b="b"/>
              <a:pathLst>
                <a:path w="930" h="334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763" y="334"/>
                  </a:lnTo>
                  <a:cubicBezTo>
                    <a:pt x="858" y="334"/>
                    <a:pt x="930" y="262"/>
                    <a:pt x="930" y="167"/>
                  </a:cubicBezTo>
                  <a:cubicBezTo>
                    <a:pt x="930" y="83"/>
                    <a:pt x="858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8" name="Google Shape;2919;p53">
              <a:extLst>
                <a:ext uri="{FF2B5EF4-FFF2-40B4-BE49-F238E27FC236}">
                  <a16:creationId xmlns:a16="http://schemas.microsoft.com/office/drawing/2014/main" id="{5CCC92B2-764D-4B4F-8E61-964957284B4C}"/>
                </a:ext>
              </a:extLst>
            </p:cNvPr>
            <p:cNvSpPr/>
            <p:nvPr/>
          </p:nvSpPr>
          <p:spPr>
            <a:xfrm>
              <a:off x="4221579" y="2130694"/>
              <a:ext cx="28454" cy="19478"/>
            </a:xfrm>
            <a:custGeom>
              <a:avLst/>
              <a:gdLst/>
              <a:ahLst/>
              <a:cxnLst/>
              <a:rect l="l" t="t" r="r" b="b"/>
              <a:pathLst>
                <a:path w="894" h="612" extrusionOk="0">
                  <a:moveTo>
                    <a:pt x="706" y="0"/>
                  </a:moveTo>
                  <a:cubicBezTo>
                    <a:pt x="679" y="0"/>
                    <a:pt x="654" y="5"/>
                    <a:pt x="632" y="16"/>
                  </a:cubicBezTo>
                  <a:lnTo>
                    <a:pt x="108" y="314"/>
                  </a:lnTo>
                  <a:cubicBezTo>
                    <a:pt x="37" y="362"/>
                    <a:pt x="1" y="469"/>
                    <a:pt x="48" y="540"/>
                  </a:cubicBezTo>
                  <a:cubicBezTo>
                    <a:pt x="96" y="588"/>
                    <a:pt x="144" y="612"/>
                    <a:pt x="203" y="612"/>
                  </a:cubicBezTo>
                  <a:cubicBezTo>
                    <a:pt x="227" y="612"/>
                    <a:pt x="263" y="612"/>
                    <a:pt x="275" y="600"/>
                  </a:cubicBezTo>
                  <a:lnTo>
                    <a:pt x="799" y="302"/>
                  </a:lnTo>
                  <a:cubicBezTo>
                    <a:pt x="870" y="255"/>
                    <a:pt x="894" y="159"/>
                    <a:pt x="858" y="76"/>
                  </a:cubicBezTo>
                  <a:cubicBezTo>
                    <a:pt x="825" y="27"/>
                    <a:pt x="764" y="0"/>
                    <a:pt x="7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  <p:sp>
          <p:nvSpPr>
            <p:cNvPr id="59" name="Google Shape;2920;p53">
              <a:extLst>
                <a:ext uri="{FF2B5EF4-FFF2-40B4-BE49-F238E27FC236}">
                  <a16:creationId xmlns:a16="http://schemas.microsoft.com/office/drawing/2014/main" id="{07F83B4F-6DC6-415E-B1F8-BF47B9553B0C}"/>
                </a:ext>
              </a:extLst>
            </p:cNvPr>
            <p:cNvSpPr/>
            <p:nvPr/>
          </p:nvSpPr>
          <p:spPr>
            <a:xfrm>
              <a:off x="4194685" y="2095652"/>
              <a:ext cx="20879" cy="26862"/>
            </a:xfrm>
            <a:custGeom>
              <a:avLst/>
              <a:gdLst/>
              <a:ahLst/>
              <a:cxnLst/>
              <a:rect l="l" t="t" r="r" b="b"/>
              <a:pathLst>
                <a:path w="656" h="844" extrusionOk="0">
                  <a:moveTo>
                    <a:pt x="479" y="0"/>
                  </a:moveTo>
                  <a:cubicBezTo>
                    <a:pt x="428" y="0"/>
                    <a:pt x="378" y="33"/>
                    <a:pt x="346" y="82"/>
                  </a:cubicBezTo>
                  <a:lnTo>
                    <a:pt x="48" y="606"/>
                  </a:lnTo>
                  <a:cubicBezTo>
                    <a:pt x="0" y="677"/>
                    <a:pt x="36" y="784"/>
                    <a:pt x="108" y="820"/>
                  </a:cubicBezTo>
                  <a:cubicBezTo>
                    <a:pt x="131" y="844"/>
                    <a:pt x="167" y="844"/>
                    <a:pt x="179" y="844"/>
                  </a:cubicBezTo>
                  <a:cubicBezTo>
                    <a:pt x="239" y="844"/>
                    <a:pt x="286" y="808"/>
                    <a:pt x="310" y="760"/>
                  </a:cubicBezTo>
                  <a:lnTo>
                    <a:pt x="608" y="248"/>
                  </a:lnTo>
                  <a:cubicBezTo>
                    <a:pt x="655" y="165"/>
                    <a:pt x="631" y="70"/>
                    <a:pt x="548" y="22"/>
                  </a:cubicBezTo>
                  <a:cubicBezTo>
                    <a:pt x="526" y="7"/>
                    <a:pt x="502" y="0"/>
                    <a:pt x="4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70C0"/>
                </a:solidFill>
              </a:endParaRPr>
            </a:p>
          </p:txBody>
        </p:sp>
      </p:grpSp>
      <p:grpSp>
        <p:nvGrpSpPr>
          <p:cNvPr id="60" name="Google Shape;3421;p53">
            <a:extLst>
              <a:ext uri="{FF2B5EF4-FFF2-40B4-BE49-F238E27FC236}">
                <a16:creationId xmlns:a16="http://schemas.microsoft.com/office/drawing/2014/main" id="{98BEADA7-BEF5-4A52-835C-237C4594A484}"/>
              </a:ext>
            </a:extLst>
          </p:cNvPr>
          <p:cNvGrpSpPr/>
          <p:nvPr/>
        </p:nvGrpSpPr>
        <p:grpSpPr>
          <a:xfrm>
            <a:off x="7895781" y="1724472"/>
            <a:ext cx="705722" cy="712718"/>
            <a:chOff x="5529650" y="1568459"/>
            <a:chExt cx="265591" cy="268224"/>
          </a:xfrm>
          <a:solidFill>
            <a:srgbClr val="002060"/>
          </a:solidFill>
        </p:grpSpPr>
        <p:sp>
          <p:nvSpPr>
            <p:cNvPr id="61" name="Google Shape;3422;p53">
              <a:extLst>
                <a:ext uri="{FF2B5EF4-FFF2-40B4-BE49-F238E27FC236}">
                  <a16:creationId xmlns:a16="http://schemas.microsoft.com/office/drawing/2014/main" id="{41D8F443-5253-4DEE-BD95-B9E65F8EA806}"/>
                </a:ext>
              </a:extLst>
            </p:cNvPr>
            <p:cNvSpPr/>
            <p:nvPr/>
          </p:nvSpPr>
          <p:spPr>
            <a:xfrm>
              <a:off x="5694634" y="1670772"/>
              <a:ext cx="75606" cy="7857"/>
            </a:xfrm>
            <a:custGeom>
              <a:avLst/>
              <a:gdLst/>
              <a:ahLst/>
              <a:cxnLst/>
              <a:rect l="l" t="t" r="r" b="b"/>
              <a:pathLst>
                <a:path w="1374657" h="142855" extrusionOk="0">
                  <a:moveTo>
                    <a:pt x="1303220" y="0"/>
                  </a:moveTo>
                  <a:lnTo>
                    <a:pt x="71428" y="0"/>
                  </a:lnTo>
                  <a:cubicBezTo>
                    <a:pt x="31975" y="0"/>
                    <a:pt x="0" y="31985"/>
                    <a:pt x="0" y="71428"/>
                  </a:cubicBezTo>
                  <a:cubicBezTo>
                    <a:pt x="0" y="110871"/>
                    <a:pt x="31985" y="142856"/>
                    <a:pt x="71428" y="142856"/>
                  </a:cubicBezTo>
                  <a:lnTo>
                    <a:pt x="1303230" y="142856"/>
                  </a:lnTo>
                  <a:cubicBezTo>
                    <a:pt x="1342682" y="142856"/>
                    <a:pt x="1374658" y="110871"/>
                    <a:pt x="1374658" y="71428"/>
                  </a:cubicBezTo>
                  <a:cubicBezTo>
                    <a:pt x="1374658" y="31985"/>
                    <a:pt x="1342673" y="0"/>
                    <a:pt x="1303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423;p53">
              <a:extLst>
                <a:ext uri="{FF2B5EF4-FFF2-40B4-BE49-F238E27FC236}">
                  <a16:creationId xmlns:a16="http://schemas.microsoft.com/office/drawing/2014/main" id="{29E924CE-CE5F-4838-9E11-26E39E01A7E0}"/>
                </a:ext>
              </a:extLst>
            </p:cNvPr>
            <p:cNvSpPr/>
            <p:nvPr/>
          </p:nvSpPr>
          <p:spPr>
            <a:xfrm>
              <a:off x="5694634" y="1694530"/>
              <a:ext cx="75606" cy="7857"/>
            </a:xfrm>
            <a:custGeom>
              <a:avLst/>
              <a:gdLst/>
              <a:ahLst/>
              <a:cxnLst/>
              <a:rect l="l" t="t" r="r" b="b"/>
              <a:pathLst>
                <a:path w="1374657" h="142855" extrusionOk="0">
                  <a:moveTo>
                    <a:pt x="1303220" y="0"/>
                  </a:moveTo>
                  <a:lnTo>
                    <a:pt x="71428" y="0"/>
                  </a:lnTo>
                  <a:cubicBezTo>
                    <a:pt x="31975" y="0"/>
                    <a:pt x="0" y="31985"/>
                    <a:pt x="0" y="71428"/>
                  </a:cubicBezTo>
                  <a:cubicBezTo>
                    <a:pt x="0" y="110871"/>
                    <a:pt x="31985" y="142856"/>
                    <a:pt x="71428" y="142856"/>
                  </a:cubicBezTo>
                  <a:lnTo>
                    <a:pt x="1303230" y="142856"/>
                  </a:lnTo>
                  <a:cubicBezTo>
                    <a:pt x="1342682" y="142856"/>
                    <a:pt x="1374658" y="110871"/>
                    <a:pt x="1374658" y="71428"/>
                  </a:cubicBezTo>
                  <a:cubicBezTo>
                    <a:pt x="1374658" y="31985"/>
                    <a:pt x="1342673" y="0"/>
                    <a:pt x="1303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3424;p53">
              <a:extLst>
                <a:ext uri="{FF2B5EF4-FFF2-40B4-BE49-F238E27FC236}">
                  <a16:creationId xmlns:a16="http://schemas.microsoft.com/office/drawing/2014/main" id="{89F0B97F-250A-4A32-98E0-D8FFDC8717BC}"/>
                </a:ext>
              </a:extLst>
            </p:cNvPr>
            <p:cNvSpPr/>
            <p:nvPr/>
          </p:nvSpPr>
          <p:spPr>
            <a:xfrm>
              <a:off x="5694634" y="1718288"/>
              <a:ext cx="75606" cy="7857"/>
            </a:xfrm>
            <a:custGeom>
              <a:avLst/>
              <a:gdLst/>
              <a:ahLst/>
              <a:cxnLst/>
              <a:rect l="l" t="t" r="r" b="b"/>
              <a:pathLst>
                <a:path w="1374657" h="142855" extrusionOk="0">
                  <a:moveTo>
                    <a:pt x="1374658" y="71428"/>
                  </a:moveTo>
                  <a:cubicBezTo>
                    <a:pt x="1374658" y="31975"/>
                    <a:pt x="1342673" y="0"/>
                    <a:pt x="1303230" y="0"/>
                  </a:cubicBezTo>
                  <a:lnTo>
                    <a:pt x="71428" y="0"/>
                  </a:lnTo>
                  <a:cubicBezTo>
                    <a:pt x="31975" y="0"/>
                    <a:pt x="0" y="31985"/>
                    <a:pt x="0" y="71428"/>
                  </a:cubicBezTo>
                  <a:cubicBezTo>
                    <a:pt x="0" y="110871"/>
                    <a:pt x="31985" y="142856"/>
                    <a:pt x="71428" y="142856"/>
                  </a:cubicBezTo>
                  <a:lnTo>
                    <a:pt x="1303230" y="142856"/>
                  </a:lnTo>
                  <a:cubicBezTo>
                    <a:pt x="1342673" y="142865"/>
                    <a:pt x="1374658" y="110880"/>
                    <a:pt x="1374658" y="714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3425;p53">
              <a:extLst>
                <a:ext uri="{FF2B5EF4-FFF2-40B4-BE49-F238E27FC236}">
                  <a16:creationId xmlns:a16="http://schemas.microsoft.com/office/drawing/2014/main" id="{EEE1528A-D010-4755-A2DB-36F409CF4A68}"/>
                </a:ext>
              </a:extLst>
            </p:cNvPr>
            <p:cNvSpPr/>
            <p:nvPr/>
          </p:nvSpPr>
          <p:spPr>
            <a:xfrm>
              <a:off x="5694634" y="1742046"/>
              <a:ext cx="41731" cy="7857"/>
            </a:xfrm>
            <a:custGeom>
              <a:avLst/>
              <a:gdLst/>
              <a:ahLst/>
              <a:cxnLst/>
              <a:rect l="l" t="t" r="r" b="b"/>
              <a:pathLst>
                <a:path w="758751" h="142856" extrusionOk="0">
                  <a:moveTo>
                    <a:pt x="71428" y="0"/>
                  </a:moveTo>
                  <a:cubicBezTo>
                    <a:pt x="31975" y="0"/>
                    <a:pt x="0" y="31985"/>
                    <a:pt x="0" y="71428"/>
                  </a:cubicBezTo>
                  <a:cubicBezTo>
                    <a:pt x="0" y="110871"/>
                    <a:pt x="31985" y="142856"/>
                    <a:pt x="71428" y="142856"/>
                  </a:cubicBezTo>
                  <a:lnTo>
                    <a:pt x="687324" y="142856"/>
                  </a:lnTo>
                  <a:cubicBezTo>
                    <a:pt x="726777" y="142856"/>
                    <a:pt x="758752" y="110871"/>
                    <a:pt x="758752" y="71428"/>
                  </a:cubicBezTo>
                  <a:cubicBezTo>
                    <a:pt x="758752" y="31985"/>
                    <a:pt x="726767" y="0"/>
                    <a:pt x="6873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3426;p53">
              <a:extLst>
                <a:ext uri="{FF2B5EF4-FFF2-40B4-BE49-F238E27FC236}">
                  <a16:creationId xmlns:a16="http://schemas.microsoft.com/office/drawing/2014/main" id="{837B31F8-93E7-479E-8A6D-A8FE5251A2F3}"/>
                </a:ext>
              </a:extLst>
            </p:cNvPr>
            <p:cNvSpPr/>
            <p:nvPr/>
          </p:nvSpPr>
          <p:spPr>
            <a:xfrm>
              <a:off x="5529650" y="1568459"/>
              <a:ext cx="265591" cy="268224"/>
            </a:xfrm>
            <a:custGeom>
              <a:avLst/>
              <a:gdLst/>
              <a:ahLst/>
              <a:cxnLst/>
              <a:rect l="l" t="t" r="r" b="b"/>
              <a:pathLst>
                <a:path w="4828936" h="4876800" extrusionOk="0">
                  <a:moveTo>
                    <a:pt x="4725419" y="840019"/>
                  </a:moveTo>
                  <a:lnTo>
                    <a:pt x="3988937" y="103537"/>
                  </a:lnTo>
                  <a:cubicBezTo>
                    <a:pt x="3923500" y="38052"/>
                    <a:pt x="3833841" y="0"/>
                    <a:pt x="3739001" y="0"/>
                  </a:cubicBezTo>
                  <a:lnTo>
                    <a:pt x="1315469" y="0"/>
                  </a:lnTo>
                  <a:cubicBezTo>
                    <a:pt x="1120588" y="0"/>
                    <a:pt x="962044" y="158553"/>
                    <a:pt x="962044" y="353435"/>
                  </a:cubicBezTo>
                  <a:lnTo>
                    <a:pt x="962044" y="1084774"/>
                  </a:lnTo>
                  <a:cubicBezTo>
                    <a:pt x="962044" y="1124226"/>
                    <a:pt x="994029" y="1156202"/>
                    <a:pt x="1033472" y="1156202"/>
                  </a:cubicBezTo>
                  <a:cubicBezTo>
                    <a:pt x="1072915" y="1156202"/>
                    <a:pt x="1104900" y="1124217"/>
                    <a:pt x="1104900" y="1084774"/>
                  </a:cubicBezTo>
                  <a:lnTo>
                    <a:pt x="1104900" y="353435"/>
                  </a:lnTo>
                  <a:cubicBezTo>
                    <a:pt x="1104900" y="237325"/>
                    <a:pt x="1199359" y="142865"/>
                    <a:pt x="1315469" y="142865"/>
                  </a:cubicBezTo>
                  <a:lnTo>
                    <a:pt x="3739001" y="142865"/>
                  </a:lnTo>
                  <a:cubicBezTo>
                    <a:pt x="3754412" y="142865"/>
                    <a:pt x="3769566" y="144513"/>
                    <a:pt x="3784378" y="147780"/>
                  </a:cubicBezTo>
                  <a:lnTo>
                    <a:pt x="3784378" y="798300"/>
                  </a:lnTo>
                  <a:cubicBezTo>
                    <a:pt x="3784378" y="934088"/>
                    <a:pt x="3894849" y="1044559"/>
                    <a:pt x="4030637" y="1044559"/>
                  </a:cubicBezTo>
                  <a:lnTo>
                    <a:pt x="4681080" y="1044559"/>
                  </a:lnTo>
                  <a:cubicBezTo>
                    <a:pt x="4684376" y="1059466"/>
                    <a:pt x="4686062" y="1074734"/>
                    <a:pt x="4686062" y="1089936"/>
                  </a:cubicBezTo>
                  <a:lnTo>
                    <a:pt x="4686062" y="4523375"/>
                  </a:lnTo>
                  <a:cubicBezTo>
                    <a:pt x="4686062" y="4639475"/>
                    <a:pt x="4591603" y="4733944"/>
                    <a:pt x="4475493" y="4733944"/>
                  </a:cubicBezTo>
                  <a:lnTo>
                    <a:pt x="3515868" y="4733944"/>
                  </a:lnTo>
                  <a:cubicBezTo>
                    <a:pt x="3599393" y="4609062"/>
                    <a:pt x="3586096" y="4438145"/>
                    <a:pt x="3475911" y="4327960"/>
                  </a:cubicBezTo>
                  <a:lnTo>
                    <a:pt x="2826449" y="3678498"/>
                  </a:lnTo>
                  <a:cubicBezTo>
                    <a:pt x="2779148" y="3631197"/>
                    <a:pt x="2710291" y="3618491"/>
                    <a:pt x="2651227" y="3640036"/>
                  </a:cubicBezTo>
                  <a:lnTo>
                    <a:pt x="2511400" y="3500209"/>
                  </a:lnTo>
                  <a:cubicBezTo>
                    <a:pt x="2905887" y="2952407"/>
                    <a:pt x="2847718" y="2194465"/>
                    <a:pt x="2365277" y="1712014"/>
                  </a:cubicBezTo>
                  <a:cubicBezTo>
                    <a:pt x="1829848" y="1176595"/>
                    <a:pt x="951357" y="1165927"/>
                    <a:pt x="405279" y="1712014"/>
                  </a:cubicBezTo>
                  <a:cubicBezTo>
                    <a:pt x="-135093" y="2252386"/>
                    <a:pt x="-135093" y="3131639"/>
                    <a:pt x="405279" y="3672011"/>
                  </a:cubicBezTo>
                  <a:cubicBezTo>
                    <a:pt x="887301" y="4154043"/>
                    <a:pt x="1645968" y="4211336"/>
                    <a:pt x="2193427" y="3818087"/>
                  </a:cubicBezTo>
                  <a:lnTo>
                    <a:pt x="2333301" y="3957961"/>
                  </a:lnTo>
                  <a:cubicBezTo>
                    <a:pt x="2311756" y="4017026"/>
                    <a:pt x="2324462" y="4085882"/>
                    <a:pt x="2371773" y="4133183"/>
                  </a:cubicBezTo>
                  <a:lnTo>
                    <a:pt x="2972533" y="4733944"/>
                  </a:lnTo>
                  <a:lnTo>
                    <a:pt x="1315469" y="4733944"/>
                  </a:lnTo>
                  <a:cubicBezTo>
                    <a:pt x="1199369" y="4733944"/>
                    <a:pt x="1104900" y="4639485"/>
                    <a:pt x="1104900" y="4523375"/>
                  </a:cubicBezTo>
                  <a:lnTo>
                    <a:pt x="1104900" y="4294442"/>
                  </a:lnTo>
                  <a:cubicBezTo>
                    <a:pt x="1104900" y="4254989"/>
                    <a:pt x="1072915" y="4223014"/>
                    <a:pt x="1033472" y="4223014"/>
                  </a:cubicBezTo>
                  <a:cubicBezTo>
                    <a:pt x="994029" y="4223014"/>
                    <a:pt x="962044" y="4254999"/>
                    <a:pt x="962044" y="4294442"/>
                  </a:cubicBezTo>
                  <a:lnTo>
                    <a:pt x="962044" y="4523375"/>
                  </a:lnTo>
                  <a:cubicBezTo>
                    <a:pt x="962044" y="4718257"/>
                    <a:pt x="1120597" y="4876800"/>
                    <a:pt x="1315469" y="4876800"/>
                  </a:cubicBezTo>
                  <a:lnTo>
                    <a:pt x="4475503" y="4876800"/>
                  </a:lnTo>
                  <a:cubicBezTo>
                    <a:pt x="4670384" y="4876800"/>
                    <a:pt x="4828937" y="4718247"/>
                    <a:pt x="4828937" y="4523375"/>
                  </a:cubicBezTo>
                  <a:lnTo>
                    <a:pt x="4828937" y="1089936"/>
                  </a:lnTo>
                  <a:cubicBezTo>
                    <a:pt x="4828937" y="997239"/>
                    <a:pt x="4792152" y="906704"/>
                    <a:pt x="4725419" y="840019"/>
                  </a:cubicBezTo>
                  <a:close/>
                  <a:moveTo>
                    <a:pt x="506311" y="3570989"/>
                  </a:moveTo>
                  <a:cubicBezTo>
                    <a:pt x="21641" y="3086319"/>
                    <a:pt x="21641" y="2297706"/>
                    <a:pt x="506311" y="1813027"/>
                  </a:cubicBezTo>
                  <a:cubicBezTo>
                    <a:pt x="997153" y="1322184"/>
                    <a:pt x="1784947" y="1333710"/>
                    <a:pt x="2264274" y="1813027"/>
                  </a:cubicBezTo>
                  <a:cubicBezTo>
                    <a:pt x="2710558" y="2259321"/>
                    <a:pt x="2752135" y="2968409"/>
                    <a:pt x="2360971" y="3462433"/>
                  </a:cubicBezTo>
                  <a:cubicBezTo>
                    <a:pt x="2300926" y="3538261"/>
                    <a:pt x="2231631" y="3607584"/>
                    <a:pt x="2155717" y="3667687"/>
                  </a:cubicBezTo>
                  <a:cubicBezTo>
                    <a:pt x="1664846" y="4056336"/>
                    <a:pt x="954014" y="4018693"/>
                    <a:pt x="506311" y="3570989"/>
                  </a:cubicBezTo>
                  <a:close/>
                  <a:moveTo>
                    <a:pt x="2305926" y="3727999"/>
                  </a:moveTo>
                  <a:cubicBezTo>
                    <a:pt x="2346322" y="3692042"/>
                    <a:pt x="2384851" y="3653590"/>
                    <a:pt x="2421531" y="3612376"/>
                  </a:cubicBezTo>
                  <a:lnTo>
                    <a:pt x="2539165" y="3730009"/>
                  </a:lnTo>
                  <a:lnTo>
                    <a:pt x="2423275" y="3845900"/>
                  </a:lnTo>
                  <a:lnTo>
                    <a:pt x="2305650" y="3728266"/>
                  </a:lnTo>
                  <a:cubicBezTo>
                    <a:pt x="2305746" y="3728171"/>
                    <a:pt x="2305831" y="3728075"/>
                    <a:pt x="2305926" y="3727999"/>
                  </a:cubicBezTo>
                  <a:close/>
                  <a:moveTo>
                    <a:pt x="3122248" y="4681614"/>
                  </a:moveTo>
                  <a:lnTo>
                    <a:pt x="2472795" y="4032161"/>
                  </a:lnTo>
                  <a:cubicBezTo>
                    <a:pt x="2463489" y="4022855"/>
                    <a:pt x="2463470" y="4007739"/>
                    <a:pt x="2472795" y="3998405"/>
                  </a:cubicBezTo>
                  <a:lnTo>
                    <a:pt x="2473738" y="3997462"/>
                  </a:lnTo>
                  <a:cubicBezTo>
                    <a:pt x="2473757" y="3997442"/>
                    <a:pt x="2473776" y="3997433"/>
                    <a:pt x="2473785" y="3997414"/>
                  </a:cubicBezTo>
                  <a:lnTo>
                    <a:pt x="2691689" y="3779511"/>
                  </a:lnTo>
                  <a:cubicBezTo>
                    <a:pt x="2700985" y="3770205"/>
                    <a:pt x="2716139" y="3770205"/>
                    <a:pt x="2725446" y="3779511"/>
                  </a:cubicBezTo>
                  <a:lnTo>
                    <a:pt x="3374898" y="4428973"/>
                  </a:lnTo>
                  <a:cubicBezTo>
                    <a:pt x="3444545" y="4498629"/>
                    <a:pt x="3444545" y="4611958"/>
                    <a:pt x="3374898" y="4681614"/>
                  </a:cubicBezTo>
                  <a:cubicBezTo>
                    <a:pt x="3305070" y="4751432"/>
                    <a:pt x="3192075" y="4751432"/>
                    <a:pt x="3122248" y="4681614"/>
                  </a:cubicBezTo>
                  <a:close/>
                  <a:moveTo>
                    <a:pt x="3927243" y="798300"/>
                  </a:moveTo>
                  <a:lnTo>
                    <a:pt x="3927243" y="243878"/>
                  </a:lnTo>
                  <a:lnTo>
                    <a:pt x="4585059" y="901694"/>
                  </a:lnTo>
                  <a:lnTo>
                    <a:pt x="4030647" y="901694"/>
                  </a:lnTo>
                  <a:cubicBezTo>
                    <a:pt x="3973621" y="901694"/>
                    <a:pt x="3927243" y="855307"/>
                    <a:pt x="3927243" y="7983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3427;p53">
              <a:extLst>
                <a:ext uri="{FF2B5EF4-FFF2-40B4-BE49-F238E27FC236}">
                  <a16:creationId xmlns:a16="http://schemas.microsoft.com/office/drawing/2014/main" id="{27CF1D54-ECC9-487D-8E39-D34D7216FC38}"/>
                </a:ext>
              </a:extLst>
            </p:cNvPr>
            <p:cNvSpPr/>
            <p:nvPr/>
          </p:nvSpPr>
          <p:spPr>
            <a:xfrm>
              <a:off x="5607385" y="1594030"/>
              <a:ext cx="94846" cy="31958"/>
            </a:xfrm>
            <a:custGeom>
              <a:avLst/>
              <a:gdLst/>
              <a:ahLst/>
              <a:cxnLst/>
              <a:rect l="l" t="t" r="r" b="b"/>
              <a:pathLst>
                <a:path w="1724472" h="581053" extrusionOk="0">
                  <a:moveTo>
                    <a:pt x="1570835" y="0"/>
                  </a:moveTo>
                  <a:lnTo>
                    <a:pt x="153638" y="0"/>
                  </a:lnTo>
                  <a:cubicBezTo>
                    <a:pt x="68923" y="0"/>
                    <a:pt x="0" y="68923"/>
                    <a:pt x="0" y="153638"/>
                  </a:cubicBezTo>
                  <a:lnTo>
                    <a:pt x="0" y="427415"/>
                  </a:lnTo>
                  <a:cubicBezTo>
                    <a:pt x="0" y="512131"/>
                    <a:pt x="68923" y="581054"/>
                    <a:pt x="153638" y="581054"/>
                  </a:cubicBezTo>
                  <a:lnTo>
                    <a:pt x="1570835" y="581054"/>
                  </a:lnTo>
                  <a:cubicBezTo>
                    <a:pt x="1655550" y="581054"/>
                    <a:pt x="1724473" y="512131"/>
                    <a:pt x="1724473" y="427415"/>
                  </a:cubicBezTo>
                  <a:lnTo>
                    <a:pt x="1724473" y="153638"/>
                  </a:lnTo>
                  <a:cubicBezTo>
                    <a:pt x="1724463" y="68923"/>
                    <a:pt x="1655540" y="0"/>
                    <a:pt x="1570835" y="0"/>
                  </a:cubicBezTo>
                  <a:close/>
                  <a:moveTo>
                    <a:pt x="1581598" y="427406"/>
                  </a:moveTo>
                  <a:cubicBezTo>
                    <a:pt x="1581598" y="433340"/>
                    <a:pt x="1576768" y="438179"/>
                    <a:pt x="1570825" y="438179"/>
                  </a:cubicBezTo>
                  <a:lnTo>
                    <a:pt x="153638" y="438179"/>
                  </a:lnTo>
                  <a:cubicBezTo>
                    <a:pt x="147704" y="438179"/>
                    <a:pt x="142865" y="433349"/>
                    <a:pt x="142865" y="427406"/>
                  </a:cubicBezTo>
                  <a:lnTo>
                    <a:pt x="142865" y="153638"/>
                  </a:lnTo>
                  <a:cubicBezTo>
                    <a:pt x="142865" y="147704"/>
                    <a:pt x="147695" y="142865"/>
                    <a:pt x="153638" y="142865"/>
                  </a:cubicBezTo>
                  <a:lnTo>
                    <a:pt x="1570835" y="142865"/>
                  </a:lnTo>
                  <a:cubicBezTo>
                    <a:pt x="1576778" y="142865"/>
                    <a:pt x="1581607" y="147695"/>
                    <a:pt x="1581607" y="153638"/>
                  </a:cubicBezTo>
                  <a:lnTo>
                    <a:pt x="1581607" y="42740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3428;p53">
              <a:extLst>
                <a:ext uri="{FF2B5EF4-FFF2-40B4-BE49-F238E27FC236}">
                  <a16:creationId xmlns:a16="http://schemas.microsoft.com/office/drawing/2014/main" id="{FBBC1C5C-9428-46B7-B493-4286BD3126F5}"/>
                </a:ext>
              </a:extLst>
            </p:cNvPr>
            <p:cNvSpPr/>
            <p:nvPr/>
          </p:nvSpPr>
          <p:spPr>
            <a:xfrm>
              <a:off x="5545984" y="1656255"/>
              <a:ext cx="120435" cy="121061"/>
            </a:xfrm>
            <a:custGeom>
              <a:avLst/>
              <a:gdLst/>
              <a:ahLst/>
              <a:cxnLst/>
              <a:rect l="l" t="t" r="r" b="b"/>
              <a:pathLst>
                <a:path w="2189723" h="2201102" extrusionOk="0">
                  <a:moveTo>
                    <a:pt x="1867741" y="1879121"/>
                  </a:moveTo>
                  <a:cubicBezTo>
                    <a:pt x="2297051" y="1449819"/>
                    <a:pt x="2297051" y="751284"/>
                    <a:pt x="1867741" y="321983"/>
                  </a:cubicBezTo>
                  <a:cubicBezTo>
                    <a:pt x="1438430" y="-107328"/>
                    <a:pt x="739914" y="-107328"/>
                    <a:pt x="310603" y="321983"/>
                  </a:cubicBezTo>
                  <a:cubicBezTo>
                    <a:pt x="143573" y="489023"/>
                    <a:pt x="36454" y="700373"/>
                    <a:pt x="831" y="933202"/>
                  </a:cubicBezTo>
                  <a:cubicBezTo>
                    <a:pt x="-5132" y="972198"/>
                    <a:pt x="21634" y="1008650"/>
                    <a:pt x="60638" y="1014613"/>
                  </a:cubicBezTo>
                  <a:cubicBezTo>
                    <a:pt x="99653" y="1020604"/>
                    <a:pt x="136086" y="993810"/>
                    <a:pt x="142049" y="954805"/>
                  </a:cubicBezTo>
                  <a:cubicBezTo>
                    <a:pt x="173043" y="752265"/>
                    <a:pt x="266255" y="568366"/>
                    <a:pt x="411616" y="422996"/>
                  </a:cubicBezTo>
                  <a:cubicBezTo>
                    <a:pt x="785215" y="49397"/>
                    <a:pt x="1393110" y="49397"/>
                    <a:pt x="1766718" y="422996"/>
                  </a:cubicBezTo>
                  <a:cubicBezTo>
                    <a:pt x="2125182" y="781460"/>
                    <a:pt x="2139641" y="1355589"/>
                    <a:pt x="1810219" y="1731531"/>
                  </a:cubicBezTo>
                  <a:cubicBezTo>
                    <a:pt x="1778844" y="1667685"/>
                    <a:pt x="1725475" y="1615697"/>
                    <a:pt x="1655676" y="1584970"/>
                  </a:cubicBezTo>
                  <a:cubicBezTo>
                    <a:pt x="1571056" y="1547717"/>
                    <a:pt x="1425171" y="1524038"/>
                    <a:pt x="1335436" y="1512208"/>
                  </a:cubicBezTo>
                  <a:lnTo>
                    <a:pt x="1335055" y="1422006"/>
                  </a:lnTo>
                  <a:cubicBezTo>
                    <a:pt x="1421771" y="1358160"/>
                    <a:pt x="1483321" y="1261805"/>
                    <a:pt x="1501009" y="1150325"/>
                  </a:cubicBezTo>
                  <a:cubicBezTo>
                    <a:pt x="1516259" y="1143991"/>
                    <a:pt x="1530251" y="1134628"/>
                    <a:pt x="1542233" y="1122559"/>
                  </a:cubicBezTo>
                  <a:cubicBezTo>
                    <a:pt x="1566150" y="1098480"/>
                    <a:pt x="1579190" y="1066543"/>
                    <a:pt x="1578971" y="1032624"/>
                  </a:cubicBezTo>
                  <a:cubicBezTo>
                    <a:pt x="1578333" y="937955"/>
                    <a:pt x="1578419" y="781050"/>
                    <a:pt x="1578419" y="689648"/>
                  </a:cubicBezTo>
                  <a:cubicBezTo>
                    <a:pt x="1578419" y="603209"/>
                    <a:pt x="1515439" y="531190"/>
                    <a:pt x="1432962" y="517065"/>
                  </a:cubicBezTo>
                  <a:cubicBezTo>
                    <a:pt x="1417132" y="436693"/>
                    <a:pt x="1346123" y="375885"/>
                    <a:pt x="1261169" y="375885"/>
                  </a:cubicBezTo>
                  <a:lnTo>
                    <a:pt x="916336" y="375885"/>
                  </a:lnTo>
                  <a:cubicBezTo>
                    <a:pt x="738571" y="375885"/>
                    <a:pt x="593943" y="520503"/>
                    <a:pt x="593943" y="698268"/>
                  </a:cubicBezTo>
                  <a:lnTo>
                    <a:pt x="593943" y="1033958"/>
                  </a:lnTo>
                  <a:cubicBezTo>
                    <a:pt x="593943" y="1086069"/>
                    <a:pt x="625747" y="1130894"/>
                    <a:pt x="670962" y="1150049"/>
                  </a:cubicBezTo>
                  <a:cubicBezTo>
                    <a:pt x="688250" y="1258129"/>
                    <a:pt x="746743" y="1352045"/>
                    <a:pt x="829335" y="1415910"/>
                  </a:cubicBezTo>
                  <a:lnTo>
                    <a:pt x="829754" y="1514332"/>
                  </a:lnTo>
                  <a:cubicBezTo>
                    <a:pt x="740123" y="1526915"/>
                    <a:pt x="594448" y="1551823"/>
                    <a:pt x="510123" y="1589789"/>
                  </a:cubicBezTo>
                  <a:cubicBezTo>
                    <a:pt x="446001" y="1618679"/>
                    <a:pt x="395890" y="1667666"/>
                    <a:pt x="365048" y="1727987"/>
                  </a:cubicBezTo>
                  <a:cubicBezTo>
                    <a:pt x="250843" y="1596524"/>
                    <a:pt x="175224" y="1438037"/>
                    <a:pt x="145239" y="1265692"/>
                  </a:cubicBezTo>
                  <a:cubicBezTo>
                    <a:pt x="138477" y="1226830"/>
                    <a:pt x="101482" y="1200798"/>
                    <a:pt x="62620" y="1207560"/>
                  </a:cubicBezTo>
                  <a:cubicBezTo>
                    <a:pt x="23748" y="1214323"/>
                    <a:pt x="-2274" y="1251318"/>
                    <a:pt x="4489" y="1290180"/>
                  </a:cubicBezTo>
                  <a:cubicBezTo>
                    <a:pt x="43465" y="1514151"/>
                    <a:pt x="149316" y="1717796"/>
                    <a:pt x="310613" y="1879102"/>
                  </a:cubicBezTo>
                  <a:cubicBezTo>
                    <a:pt x="741800" y="2310318"/>
                    <a:pt x="1440335" y="2306546"/>
                    <a:pt x="1867741" y="1879121"/>
                  </a:cubicBezTo>
                  <a:close/>
                  <a:moveTo>
                    <a:pt x="916336" y="518760"/>
                  </a:moveTo>
                  <a:lnTo>
                    <a:pt x="1261169" y="518760"/>
                  </a:lnTo>
                  <a:cubicBezTo>
                    <a:pt x="1278943" y="518760"/>
                    <a:pt x="1293402" y="533219"/>
                    <a:pt x="1293402" y="550993"/>
                  </a:cubicBezTo>
                  <a:cubicBezTo>
                    <a:pt x="1293402" y="609686"/>
                    <a:pt x="1341151" y="657435"/>
                    <a:pt x="1399844" y="657435"/>
                  </a:cubicBezTo>
                  <a:lnTo>
                    <a:pt x="1403340" y="657435"/>
                  </a:lnTo>
                  <a:cubicBezTo>
                    <a:pt x="1421113" y="657435"/>
                    <a:pt x="1435572" y="671894"/>
                    <a:pt x="1435572" y="689667"/>
                  </a:cubicBezTo>
                  <a:lnTo>
                    <a:pt x="1435572" y="728005"/>
                  </a:lnTo>
                  <a:lnTo>
                    <a:pt x="1349228" y="719909"/>
                  </a:lnTo>
                  <a:cubicBezTo>
                    <a:pt x="1264646" y="711994"/>
                    <a:pt x="1178140" y="732053"/>
                    <a:pt x="1105674" y="776430"/>
                  </a:cubicBezTo>
                  <a:cubicBezTo>
                    <a:pt x="1065926" y="800767"/>
                    <a:pt x="1020282" y="813635"/>
                    <a:pt x="973676" y="813635"/>
                  </a:cubicBezTo>
                  <a:lnTo>
                    <a:pt x="736818" y="813635"/>
                  </a:lnTo>
                  <a:lnTo>
                    <a:pt x="736818" y="698297"/>
                  </a:lnTo>
                  <a:cubicBezTo>
                    <a:pt x="736809" y="599294"/>
                    <a:pt x="817343" y="518760"/>
                    <a:pt x="916336" y="518760"/>
                  </a:cubicBezTo>
                  <a:close/>
                  <a:moveTo>
                    <a:pt x="736809" y="1018708"/>
                  </a:moveTo>
                  <a:lnTo>
                    <a:pt x="736809" y="956482"/>
                  </a:lnTo>
                  <a:lnTo>
                    <a:pt x="973667" y="956482"/>
                  </a:lnTo>
                  <a:cubicBezTo>
                    <a:pt x="1046628" y="956482"/>
                    <a:pt x="1118066" y="936336"/>
                    <a:pt x="1180283" y="898236"/>
                  </a:cubicBezTo>
                  <a:cubicBezTo>
                    <a:pt x="1226575" y="869880"/>
                    <a:pt x="1281839" y="857060"/>
                    <a:pt x="1335874" y="862127"/>
                  </a:cubicBezTo>
                  <a:lnTo>
                    <a:pt x="1435601" y="871480"/>
                  </a:lnTo>
                  <a:cubicBezTo>
                    <a:pt x="1435658" y="915476"/>
                    <a:pt x="1435772" y="973522"/>
                    <a:pt x="1436020" y="1018442"/>
                  </a:cubicBezTo>
                  <a:cubicBezTo>
                    <a:pt x="1396253" y="1025424"/>
                    <a:pt x="1365306" y="1058942"/>
                    <a:pt x="1362877" y="1100471"/>
                  </a:cubicBezTo>
                  <a:cubicBezTo>
                    <a:pt x="1354372" y="1246527"/>
                    <a:pt x="1232833" y="1360932"/>
                    <a:pt x="1086186" y="1360932"/>
                  </a:cubicBezTo>
                  <a:cubicBezTo>
                    <a:pt x="939844" y="1360932"/>
                    <a:pt x="818124" y="1246623"/>
                    <a:pt x="809065" y="1100681"/>
                  </a:cubicBezTo>
                  <a:cubicBezTo>
                    <a:pt x="806513" y="1059552"/>
                    <a:pt x="776042" y="1026243"/>
                    <a:pt x="736809" y="1018708"/>
                  </a:cubicBezTo>
                  <a:close/>
                  <a:moveTo>
                    <a:pt x="1086186" y="1503798"/>
                  </a:moveTo>
                  <a:cubicBezTo>
                    <a:pt x="1122866" y="1503798"/>
                    <a:pt x="1158481" y="1498978"/>
                    <a:pt x="1192485" y="1490091"/>
                  </a:cubicBezTo>
                  <a:lnTo>
                    <a:pt x="1192656" y="1529925"/>
                  </a:lnTo>
                  <a:cubicBezTo>
                    <a:pt x="1192732" y="1548403"/>
                    <a:pt x="1196971" y="1566034"/>
                    <a:pt x="1204477" y="1581883"/>
                  </a:cubicBezTo>
                  <a:cubicBezTo>
                    <a:pt x="1168958" y="1605848"/>
                    <a:pt x="1126886" y="1619069"/>
                    <a:pt x="1082776" y="1619202"/>
                  </a:cubicBezTo>
                  <a:cubicBezTo>
                    <a:pt x="1082557" y="1619202"/>
                    <a:pt x="1082338" y="1619202"/>
                    <a:pt x="1082118" y="1619202"/>
                  </a:cubicBezTo>
                  <a:cubicBezTo>
                    <a:pt x="1038418" y="1619202"/>
                    <a:pt x="996660" y="1606334"/>
                    <a:pt x="961265" y="1582874"/>
                  </a:cubicBezTo>
                  <a:cubicBezTo>
                    <a:pt x="968638" y="1566958"/>
                    <a:pt x="972771" y="1549317"/>
                    <a:pt x="972695" y="1530839"/>
                  </a:cubicBezTo>
                  <a:lnTo>
                    <a:pt x="972514" y="1488129"/>
                  </a:lnTo>
                  <a:cubicBezTo>
                    <a:pt x="1008728" y="1498330"/>
                    <a:pt x="1046866" y="1503798"/>
                    <a:pt x="1086186" y="1503798"/>
                  </a:cubicBezTo>
                  <a:close/>
                  <a:moveTo>
                    <a:pt x="476900" y="1837582"/>
                  </a:moveTo>
                  <a:cubicBezTo>
                    <a:pt x="487273" y="1785318"/>
                    <a:pt x="520639" y="1741761"/>
                    <a:pt x="568778" y="1720063"/>
                  </a:cubicBezTo>
                  <a:cubicBezTo>
                    <a:pt x="617375" y="1698184"/>
                    <a:pt x="710977" y="1676210"/>
                    <a:pt x="828858" y="1658798"/>
                  </a:cubicBezTo>
                  <a:cubicBezTo>
                    <a:pt x="896200" y="1724892"/>
                    <a:pt x="986373" y="1762059"/>
                    <a:pt x="1082090" y="1762059"/>
                  </a:cubicBezTo>
                  <a:lnTo>
                    <a:pt x="1083176" y="1762059"/>
                  </a:lnTo>
                  <a:cubicBezTo>
                    <a:pt x="1179607" y="1761773"/>
                    <a:pt x="1270266" y="1723806"/>
                    <a:pt x="1337531" y="1656655"/>
                  </a:cubicBezTo>
                  <a:cubicBezTo>
                    <a:pt x="1455565" y="1673076"/>
                    <a:pt x="1549348" y="1694250"/>
                    <a:pt x="1598126" y="1715729"/>
                  </a:cubicBezTo>
                  <a:cubicBezTo>
                    <a:pt x="1652790" y="1739789"/>
                    <a:pt x="1688128" y="1785623"/>
                    <a:pt x="1696786" y="1841478"/>
                  </a:cubicBezTo>
                  <a:cubicBezTo>
                    <a:pt x="1343284" y="2131819"/>
                    <a:pt x="828973" y="2130495"/>
                    <a:pt x="476900" y="18375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111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8EE28F87-BE11-460A-9CA4-B8F33F71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CA7DC8-604C-4C8F-B405-6538C18BEA95}"/>
              </a:ext>
            </a:extLst>
          </p:cNvPr>
          <p:cNvSpPr txBox="1"/>
          <p:nvPr/>
        </p:nvSpPr>
        <p:spPr>
          <a:xfrm>
            <a:off x="1964267" y="623147"/>
            <a:ext cx="516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Funnel Display" pitchFamily="2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2619E-A12B-4892-983F-C66A70A54B00}"/>
              </a:ext>
            </a:extLst>
          </p:cNvPr>
          <p:cNvSpPr txBox="1"/>
          <p:nvPr/>
        </p:nvSpPr>
        <p:spPr>
          <a:xfrm>
            <a:off x="1368213" y="1435947"/>
            <a:ext cx="6624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Funnel Display" pitchFamily="2" charset="0"/>
              </a:rPr>
              <a:t>Website Link: </a:t>
            </a:r>
            <a:r>
              <a:rPr lang="en-IN" b="1" dirty="0">
                <a:solidFill>
                  <a:srgbClr val="002060"/>
                </a:solidFill>
                <a:latin typeface="Funnel Display" pitchFamily="2" charset="0"/>
                <a:hlinkClick r:id="rId4"/>
              </a:rPr>
              <a:t>https://sme-loan-prescreen.onrender.com/</a:t>
            </a:r>
            <a:endParaRPr lang="en-IN" b="1" dirty="0">
              <a:solidFill>
                <a:srgbClr val="002060"/>
              </a:solidFill>
              <a:latin typeface="Funnel Display" pitchFamily="2" charset="0"/>
            </a:endParaRPr>
          </a:p>
          <a:p>
            <a:r>
              <a:rPr lang="en-IN" b="1" dirty="0">
                <a:solidFill>
                  <a:srgbClr val="002060"/>
                </a:solidFill>
                <a:latin typeface="Funnel Display" pitchFamily="2" charset="0"/>
              </a:rPr>
              <a:t>*the website takes some time to load due to inactivity so wait for some time.</a:t>
            </a:r>
          </a:p>
        </p:txBody>
      </p:sp>
    </p:spTree>
    <p:extLst>
      <p:ext uri="{BB962C8B-B14F-4D97-AF65-F5344CB8AC3E}">
        <p14:creationId xmlns:p14="http://schemas.microsoft.com/office/powerpoint/2010/main" val="362562052"/>
      </p:ext>
    </p:extLst>
  </p:cSld>
  <p:clrMapOvr>
    <a:masterClrMapping/>
  </p:clrMapOvr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161616"/>
      </a:dk1>
      <a:lt1>
        <a:srgbClr val="F0F0F0"/>
      </a:lt1>
      <a:dk2>
        <a:srgbClr val="161616"/>
      </a:dk2>
      <a:lt2>
        <a:srgbClr val="C2C2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941</Words>
  <Application>Microsoft Office PowerPoint</Application>
  <PresentationFormat>On-screen Show (16:9)</PresentationFormat>
  <Paragraphs>113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Heebo</vt:lpstr>
      <vt:lpstr>Funnel Display</vt:lpstr>
      <vt:lpstr>Nunito Light</vt:lpstr>
      <vt:lpstr>Arial</vt:lpstr>
      <vt:lpstr>Anaheim</vt:lpstr>
      <vt:lpstr>Raleway</vt:lpstr>
      <vt:lpstr>Afacad Flux</vt:lpstr>
      <vt:lpstr>Bricolage Grotesque</vt:lpstr>
      <vt:lpstr>Open Sans Light</vt:lpstr>
      <vt:lpstr>Project roadmaps by Slidesgo</vt:lpstr>
      <vt:lpstr> Capstone Project  SME Loan Screen: Right First Applications</vt:lpstr>
      <vt:lpstr>Table of contents</vt:lpstr>
      <vt:lpstr>Problem Statement: The Challenge: Incomplete Documentation &amp; Process Delays  1. The "Partial Submission" Bottleneck: Customers often submit incomplete document sets, preventing "Right-First-Time" processing.  2. Inefficient Screening Logic:  (a) Missing KYC: Triggers automatic rejection (High Bounce Rate).  (b) Missing Income Proof: Places application "On Hold," stalling progress.  (c) Conditional Approvals: Occur when Business Proof is missing, adding  another manual step.  3. Operational Waste: Significant branch time is utilized on basic document screening rather than actual credit underwriting.  4. Customer Friction: Unclear eligibility parameters and checklists lead to avoidable rejections. </vt:lpstr>
      <vt:lpstr>Proposed Solution:</vt:lpstr>
      <vt:lpstr>System Architecture &amp; Tech Stack:</vt:lpstr>
      <vt:lpstr>System Architecture &amp; Tech Stack:</vt:lpstr>
      <vt:lpstr>System Architecture &amp; Tech Stack:</vt:lpstr>
      <vt:lpstr>Mobile Extension(Android App): Mobile Accessibility for both SME Owners and Bank Staff  1. Why Android?: SME owners are often on the field and need to apply or track status on the go.  2. WebView Implementation:  (a) Zero-Latency Updates: Changes deployed to the web server are instantly reflected in the app without requiring Play Store updates.  (b) Native Feel: Runs fullscreen without browser address bars for an immersive experience.  3. Key Mobile Features:  (a) Camera Integration: Users can snap photos of documents and upload them directly via the web interface.  (b) Persistent Access: One-tap access from the home screen.  </vt:lpstr>
      <vt:lpstr>Key Functionalities:</vt:lpstr>
      <vt:lpstr>The Workflow:</vt:lpstr>
      <vt:lpstr>Security Measures:</vt:lpstr>
      <vt:lpstr>Live Demo :</vt:lpstr>
      <vt:lpstr>Live Demo :</vt:lpstr>
      <vt:lpstr>Live Demo :</vt:lpstr>
      <vt:lpstr>Live Demo :</vt:lpstr>
      <vt:lpstr>Conclusion &amp; Future Scope: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Capstone Project  SME Loan Screen: Right First Applications</dc:title>
  <cp:lastModifiedBy>Midanka Lahon</cp:lastModifiedBy>
  <cp:revision>31</cp:revision>
  <dcterms:modified xsi:type="dcterms:W3CDTF">2025-12-07T14:55:42Z</dcterms:modified>
</cp:coreProperties>
</file>